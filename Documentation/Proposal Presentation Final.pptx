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9" r:id="rId8"/>
    <p:sldId id="261" r:id="rId9"/>
    <p:sldId id="273" r:id="rId10"/>
    <p:sldId id="274" r:id="rId11"/>
    <p:sldId id="280" r:id="rId12"/>
    <p:sldId id="282" r:id="rId13"/>
    <p:sldId id="281" r:id="rId14"/>
    <p:sldId id="263" r:id="rId15"/>
    <p:sldId id="264" r:id="rId16"/>
    <p:sldId id="276" r:id="rId17"/>
    <p:sldId id="277" r:id="rId18"/>
    <p:sldId id="265" r:id="rId19"/>
    <p:sldId id="271" r:id="rId20"/>
    <p:sldId id="267" r:id="rId21"/>
    <p:sldId id="268" r:id="rId22"/>
    <p:sldId id="270" r:id="rId23"/>
    <p:sldId id="272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1418" y="34"/>
      </p:cViewPr>
      <p:guideLst>
        <p:guide orient="horz" pos="2158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b="1" dirty="0"/>
              <a:t>WanderPlan -</a:t>
            </a:r>
            <a:r>
              <a:rPr lang="en-US" altLang="en-US" dirty="0"/>
              <a:t> Personalized Food and Travel Recommendation Ecosystem</a:t>
            </a:r>
            <a:r>
              <a:rPr lang="en-US" dirty="0"/>
              <a:t> </a:t>
            </a:r>
            <a:endParaRPr lang="en-US" dirty="0"/>
          </a:p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400" dirty="0"/>
              <a:t>Supervised By: Sir Shahzad Ahmed Khan</a:t>
            </a:r>
            <a:endParaRPr lang="en-US" sz="1400" dirty="0"/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screen"/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  <a:endParaRPr lang="en-US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M. Nabeel Awais      (43944)</a:t>
            </a:r>
            <a:endParaRPr lang="en-US"/>
          </a:p>
          <a:p>
            <a:pPr eaLnBrk="1" hangingPunct="1"/>
            <a:r>
              <a:rPr lang="en-US"/>
              <a:t>Abdullah Ahtsham   (45679)</a:t>
            </a:r>
            <a:endParaRPr lang="en-US"/>
          </a:p>
          <a:p>
            <a:pPr eaLnBrk="1" hangingPunct="1"/>
            <a:r>
              <a:rPr lang="en-US"/>
              <a:t>M. Bilal Butt              (44712)</a:t>
            </a:r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  <a:endParaRPr lang="en-US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  <a:endParaRPr lang="en-US" dirty="0"/>
          </a:p>
          <a:p>
            <a:pPr eaLnBrk="1" hangingPunct="1"/>
            <a:r>
              <a:rPr lang="en-US" dirty="0"/>
              <a:t>Existing Systems</a:t>
            </a:r>
            <a:endParaRPr lang="en-US" dirty="0"/>
          </a:p>
          <a:p>
            <a:pPr eaLnBrk="1" hangingPunct="1"/>
            <a:r>
              <a:rPr lang="en-US" dirty="0"/>
              <a:t>Problem Statement</a:t>
            </a:r>
            <a:endParaRPr lang="en-US" dirty="0"/>
          </a:p>
          <a:p>
            <a:pPr eaLnBrk="1" hangingPunct="1"/>
            <a:r>
              <a:rPr lang="en-US" dirty="0"/>
              <a:t>Proposed Solution</a:t>
            </a:r>
            <a:endParaRPr lang="en-US" dirty="0"/>
          </a:p>
          <a:p>
            <a:pPr eaLnBrk="1" hangingPunct="1"/>
            <a:r>
              <a:rPr lang="en-US" dirty="0"/>
              <a:t>Project Scope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+mn-ea"/>
              </a:rPr>
              <a:t>Opportunity</a:t>
            </a:r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Tourists struggle with managing budgets, finding authentic food, and exploring local attractions.</a:t>
            </a:r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Current solutions are fragmented → need to switch between multiple apps for budgeting, restaurants, maps, and travel.</a:t>
            </a:r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No unified platform offering budget management + personalized recommendations +  filters.</a:t>
            </a:r>
            <a:endParaRPr lang="en-US" altLang="en-US" sz="2400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Stakeholders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2564130"/>
          </a:xfrm>
        </p:spPr>
        <p:txBody>
          <a:bodyPr/>
          <a:p>
            <a:pPr eaLnBrk="1" hangingPunct="1"/>
            <a:r>
              <a:rPr lang="en-US" altLang="en-US" sz="2400">
                <a:sym typeface="+mn-ea"/>
              </a:rPr>
              <a:t>Tourists.</a:t>
            </a:r>
            <a:endParaRPr lang="en-US" altLang="en-US" sz="2400">
              <a:sym typeface="+mn-ea"/>
            </a:endParaRPr>
          </a:p>
          <a:p>
            <a:pPr marL="0" indent="0" eaLnBrk="1" hangingPunct="1">
              <a:buNone/>
            </a:pPr>
            <a:endParaRPr lang="en-US" altLang="en-US" sz="2400"/>
          </a:p>
          <a:p>
            <a:pPr eaLnBrk="1" hangingPunct="1"/>
            <a:r>
              <a:rPr lang="en-US" altLang="en-US" sz="2400">
                <a:sym typeface="+mn-ea"/>
              </a:rPr>
              <a:t>Local Contributors. </a:t>
            </a:r>
            <a:endParaRPr lang="en-US" altLang="en-US" sz="2400">
              <a:sym typeface="+mn-ea"/>
            </a:endParaRPr>
          </a:p>
          <a:p>
            <a:pPr marL="0" indent="0" eaLnBrk="1" hangingPunct="1">
              <a:buNone/>
            </a:pPr>
            <a:endParaRPr lang="en-US" altLang="en-US" sz="2400"/>
          </a:p>
          <a:p>
            <a:pPr eaLnBrk="1" hangingPunct="1"/>
            <a:r>
              <a:rPr lang="en-US" altLang="en-US" sz="2400">
                <a:sym typeface="+mn-ea"/>
              </a:rPr>
              <a:t>Business Owners (Hotels, Restaurants).</a:t>
            </a:r>
            <a:endParaRPr lang="en-US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36915" cy="4089400"/>
          </a:xfrm>
        </p:spPr>
        <p:txBody>
          <a:bodyPr/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400">
                <a:solidFill>
                  <a:schemeClr val="tx1"/>
                </a:solidFill>
              </a:rPr>
              <a:t>To analyze existing solutions, we conducted a </a:t>
            </a:r>
            <a:r>
              <a:rPr lang="en-US" altLang="en-US" sz="2400" b="1">
                <a:solidFill>
                  <a:schemeClr val="tx1"/>
                </a:solidFill>
              </a:rPr>
              <a:t>market survey</a:t>
            </a:r>
            <a:r>
              <a:rPr lang="en-US" altLang="en-US" sz="2400">
                <a:solidFill>
                  <a:schemeClr val="tx1"/>
                </a:solidFill>
              </a:rPr>
              <a:t> by studying popular travel, food, and budgeting applications on Android and iOS. Each app was examined for its key modules such as recommendations, reviews, budget management, and cultural filters.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400" b="1">
                <a:solidFill>
                  <a:schemeClr val="tx1"/>
                </a:solidFill>
                <a:highlight>
                  <a:srgbClr val="FFFF00"/>
                </a:highlight>
              </a:rPr>
              <a:t>Objective:</a:t>
            </a:r>
            <a:endParaRPr lang="en-US" altLang="en-US" sz="2400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342900" indent="-342900" algn="l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</a:rPr>
              <a:t>Identify strengths of existing apps.</a:t>
            </a:r>
            <a:endParaRPr lang="en-US" altLang="en-US" sz="240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</a:rPr>
              <a:t>Highlight gaps and missing features.</a:t>
            </a:r>
            <a:endParaRPr lang="en-US" altLang="en-US" sz="240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</a:rPr>
              <a:t>Validate the uniqueness of our proposed solution.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-30162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/>
              <a:t>Market Survey - Key Features</a:t>
            </a:r>
            <a:endParaRPr lang="en-US" sz="3600" b="1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36915" cy="4654550"/>
          </a:xfrm>
        </p:spPr>
        <p:txBody>
          <a:bodyPr/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 b="1">
                <a:solidFill>
                  <a:schemeClr val="tx1"/>
                </a:solidFill>
                <a:highlight>
                  <a:srgbClr val="FFFF00"/>
                </a:highlight>
                <a:cs typeface="+mn-lt"/>
              </a:rPr>
              <a:t>Insights from Analysis</a:t>
            </a:r>
            <a:endParaRPr lang="en-US" altLang="en-US" sz="2000" b="1">
              <a:solidFill>
                <a:schemeClr val="tx1"/>
              </a:solidFill>
              <a:highlight>
                <a:srgbClr val="FFFF00"/>
              </a:highlight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cs typeface="+mn-lt"/>
                <a:sym typeface="+mn-ea"/>
              </a:rPr>
              <a:t>✔</a:t>
            </a:r>
            <a:r>
              <a:rPr lang="en-US" altLang="en-US" sz="2000" b="1">
                <a:solidFill>
                  <a:schemeClr val="tx1"/>
                </a:solidFill>
                <a:cs typeface="+mn-lt"/>
              </a:rPr>
              <a:t>Travel apps</a:t>
            </a:r>
            <a:r>
              <a:rPr lang="en-US" altLang="en-US" sz="2000">
                <a:solidFill>
                  <a:schemeClr val="tx1"/>
                </a:solidFill>
                <a:cs typeface="+mn-lt"/>
              </a:rPr>
              <a:t> focus on recommendations, reviews, and bookings, but lack budgeting features.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cs typeface="+mn-lt"/>
                <a:sym typeface="+mn-ea"/>
              </a:rPr>
              <a:t>✔</a:t>
            </a:r>
            <a:r>
              <a:rPr lang="en-US" altLang="en-US" sz="2000" b="1">
                <a:solidFill>
                  <a:schemeClr val="tx1"/>
                </a:solidFill>
                <a:cs typeface="+mn-lt"/>
              </a:rPr>
              <a:t>Food apps</a:t>
            </a:r>
            <a:r>
              <a:rPr lang="en-US" altLang="en-US" sz="2000">
                <a:solidFill>
                  <a:schemeClr val="tx1"/>
                </a:solidFill>
                <a:cs typeface="+mn-lt"/>
              </a:rPr>
              <a:t> are strong in restaurant discovery, reviews, and deals, but don’t support budgeting or any food filters.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cs typeface="+mn-lt"/>
                <a:sym typeface="+mn-ea"/>
              </a:rPr>
              <a:t>✔</a:t>
            </a:r>
            <a:r>
              <a:rPr lang="en-US" altLang="en-US" sz="2000" b="1">
                <a:solidFill>
                  <a:schemeClr val="tx1"/>
                </a:solidFill>
                <a:cs typeface="+mn-lt"/>
              </a:rPr>
              <a:t>Budget apps</a:t>
            </a:r>
            <a:r>
              <a:rPr lang="en-US" altLang="en-US" sz="2000">
                <a:solidFill>
                  <a:schemeClr val="tx1"/>
                </a:solidFill>
                <a:cs typeface="+mn-lt"/>
              </a:rPr>
              <a:t> handle expense tracking well, but don’t provide travel or food recommendations.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solidFill>
                  <a:schemeClr val="tx1"/>
                </a:solidFill>
                <a:cs typeface="+mn-lt"/>
              </a:rPr>
              <a:t>No existing app combines all these modules into one platform.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 b="1">
                <a:solidFill>
                  <a:schemeClr val="tx1"/>
                </a:solidFill>
                <a:highlight>
                  <a:srgbClr val="FFFF00"/>
                </a:highlight>
                <a:cs typeface="+mn-lt"/>
              </a:rPr>
              <a:t>Identified Gap</a:t>
            </a:r>
            <a:endParaRPr lang="en-US" altLang="en-US" sz="2000" b="1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solidFill>
                  <a:schemeClr val="tx1"/>
                </a:solidFill>
                <a:cs typeface="+mn-lt"/>
              </a:rPr>
              <a:t>A unified solution is missing that integrates: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solidFill>
                  <a:schemeClr val="tx1"/>
                </a:solidFill>
                <a:cs typeface="+mn-lt"/>
              </a:rPr>
              <a:t>✔ Dynamic Budget Management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solidFill>
                  <a:schemeClr val="tx1"/>
                </a:solidFill>
                <a:cs typeface="+mn-lt"/>
              </a:rPr>
              <a:t>✔ Travel &amp; Food Recommendations (hidden + popular spots)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  <a:p>
            <a:pPr marL="0" indent="0" algn="l" eaLnBrk="1" hangingPunct="1">
              <a:lnSpc>
                <a:spcPct val="100000"/>
              </a:lnSpc>
              <a:buNone/>
            </a:pPr>
            <a:r>
              <a:rPr lang="en-US" altLang="en-US" sz="2000">
                <a:solidFill>
                  <a:schemeClr val="tx1"/>
                </a:solidFill>
                <a:cs typeface="+mn-lt"/>
              </a:rPr>
              <a:t>✔ UGC Integration (authentic local insights)</a:t>
            </a:r>
            <a:endParaRPr lang="en-US" altLang="en-US" sz="200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-30162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/>
              <a:t>Market Survey - Budget Apps</a:t>
            </a:r>
            <a:endParaRPr lang="en-US" sz="3600" b="1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219200" y="1066537"/>
          <a:ext cx="6941185" cy="541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987"/>
                <a:gridCol w="1366404"/>
                <a:gridCol w="1311835"/>
                <a:gridCol w="1771650"/>
              </a:tblGrid>
              <a:tr h="593844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12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Modules/App</a:t>
                      </a:r>
                      <a:endParaRPr lang="en-US" sz="1200" spc="12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kern="1200" spc="12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SplitWise</a:t>
                      </a:r>
                      <a:endParaRPr lang="en-US" sz="1600" b="1" i="0" kern="1200" spc="12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Trabee Pocket 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  <a:sym typeface="+mn-ea"/>
                        </a:rPr>
                        <a:t>Wallet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Travel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Food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Reviews &amp; Ratings (UGC)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Maps Integration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Bookings / Reservation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Budget Tracking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Expense Categorization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Deals &amp; Discounts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</a:tbl>
          </a:graphicData>
        </a:graphic>
      </p:graphicFrame>
      <p:sp>
        <p:nvSpPr>
          <p:cNvPr id="9" name="Rectangles 8"/>
          <p:cNvSpPr/>
          <p:nvPr/>
        </p:nvSpPr>
        <p:spPr>
          <a:xfrm>
            <a:off x="0" y="5562600"/>
            <a:ext cx="9144000" cy="1388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6" name="Picture 65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206240" y="4648835"/>
            <a:ext cx="370840" cy="312420"/>
          </a:xfrm>
          <a:prstGeom prst="rect">
            <a:avLst/>
          </a:prstGeom>
        </p:spPr>
      </p:pic>
      <p:pic>
        <p:nvPicPr>
          <p:cNvPr id="67" name="Picture 66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206240" y="4162425"/>
            <a:ext cx="370840" cy="312420"/>
          </a:xfrm>
          <a:prstGeom prst="rect">
            <a:avLst/>
          </a:prstGeom>
        </p:spPr>
      </p:pic>
      <p:pic>
        <p:nvPicPr>
          <p:cNvPr id="68" name="Picture 67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717925"/>
            <a:ext cx="302260" cy="302260"/>
          </a:xfrm>
          <a:prstGeom prst="rect">
            <a:avLst/>
          </a:prstGeom>
        </p:spPr>
      </p:pic>
      <p:pic>
        <p:nvPicPr>
          <p:cNvPr id="69" name="Picture 68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251835"/>
            <a:ext cx="302260" cy="302260"/>
          </a:xfrm>
          <a:prstGeom prst="rect">
            <a:avLst/>
          </a:prstGeom>
        </p:spPr>
      </p:pic>
      <p:pic>
        <p:nvPicPr>
          <p:cNvPr id="71" name="Picture 70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286000"/>
            <a:ext cx="302260" cy="302260"/>
          </a:xfrm>
          <a:prstGeom prst="rect">
            <a:avLst/>
          </a:prstGeom>
        </p:spPr>
      </p:pic>
      <p:pic>
        <p:nvPicPr>
          <p:cNvPr id="72" name="Picture 71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781810"/>
            <a:ext cx="302260" cy="302260"/>
          </a:xfrm>
          <a:prstGeom prst="rect">
            <a:avLst/>
          </a:prstGeom>
        </p:spPr>
      </p:pic>
      <p:pic>
        <p:nvPicPr>
          <p:cNvPr id="73" name="Picture 72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5149850"/>
            <a:ext cx="302260" cy="302260"/>
          </a:xfrm>
          <a:prstGeom prst="rect">
            <a:avLst/>
          </a:prstGeom>
        </p:spPr>
      </p:pic>
      <p:pic>
        <p:nvPicPr>
          <p:cNvPr id="74" name="Picture 73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206240" y="2761615"/>
            <a:ext cx="370840" cy="312420"/>
          </a:xfrm>
          <a:prstGeom prst="rect">
            <a:avLst/>
          </a:prstGeom>
        </p:spPr>
      </p:pic>
      <p:pic>
        <p:nvPicPr>
          <p:cNvPr id="75" name="Picture 74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77840" y="4238625"/>
            <a:ext cx="370840" cy="312420"/>
          </a:xfrm>
          <a:prstGeom prst="rect">
            <a:avLst/>
          </a:prstGeom>
        </p:spPr>
      </p:pic>
      <p:pic>
        <p:nvPicPr>
          <p:cNvPr id="76" name="Picture 75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77840" y="4725035"/>
            <a:ext cx="370840" cy="312420"/>
          </a:xfrm>
          <a:prstGeom prst="rect">
            <a:avLst/>
          </a:prstGeom>
        </p:spPr>
      </p:pic>
      <p:pic>
        <p:nvPicPr>
          <p:cNvPr id="77" name="Picture 76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780790"/>
            <a:ext cx="302260" cy="302260"/>
          </a:xfrm>
          <a:prstGeom prst="rect">
            <a:avLst/>
          </a:prstGeom>
        </p:spPr>
      </p:pic>
      <p:pic>
        <p:nvPicPr>
          <p:cNvPr id="78" name="Picture 77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251835"/>
            <a:ext cx="302260" cy="302260"/>
          </a:xfrm>
          <a:prstGeom prst="rect">
            <a:avLst/>
          </a:prstGeom>
        </p:spPr>
      </p:pic>
      <p:pic>
        <p:nvPicPr>
          <p:cNvPr id="79" name="Picture 78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90190"/>
            <a:ext cx="302260" cy="302260"/>
          </a:xfrm>
          <a:prstGeom prst="rect">
            <a:avLst/>
          </a:prstGeom>
        </p:spPr>
      </p:pic>
      <p:pic>
        <p:nvPicPr>
          <p:cNvPr id="80" name="Picture 79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286000"/>
            <a:ext cx="302260" cy="302260"/>
          </a:xfrm>
          <a:prstGeom prst="rect">
            <a:avLst/>
          </a:prstGeom>
        </p:spPr>
      </p:pic>
      <p:pic>
        <p:nvPicPr>
          <p:cNvPr id="81" name="Picture 80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778635"/>
            <a:ext cx="302260" cy="302260"/>
          </a:xfrm>
          <a:prstGeom prst="rect">
            <a:avLst/>
          </a:prstGeom>
        </p:spPr>
      </p:pic>
      <p:pic>
        <p:nvPicPr>
          <p:cNvPr id="82" name="Picture 81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5226050"/>
            <a:ext cx="302260" cy="302260"/>
          </a:xfrm>
          <a:prstGeom prst="rect">
            <a:avLst/>
          </a:prstGeom>
        </p:spPr>
      </p:pic>
      <p:pic>
        <p:nvPicPr>
          <p:cNvPr id="92" name="Picture 91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7101840" y="4238625"/>
            <a:ext cx="370840" cy="312420"/>
          </a:xfrm>
          <a:prstGeom prst="rect">
            <a:avLst/>
          </a:prstGeom>
        </p:spPr>
      </p:pic>
      <p:pic>
        <p:nvPicPr>
          <p:cNvPr id="93" name="Picture 92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7101840" y="4714875"/>
            <a:ext cx="370840" cy="312420"/>
          </a:xfrm>
          <a:prstGeom prst="rect">
            <a:avLst/>
          </a:prstGeom>
        </p:spPr>
      </p:pic>
      <p:pic>
        <p:nvPicPr>
          <p:cNvPr id="95" name="Picture 94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782695"/>
            <a:ext cx="302260" cy="302260"/>
          </a:xfrm>
          <a:prstGeom prst="rect">
            <a:avLst/>
          </a:prstGeom>
        </p:spPr>
      </p:pic>
      <p:pic>
        <p:nvPicPr>
          <p:cNvPr id="96" name="Picture 95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76600"/>
            <a:ext cx="302260" cy="302260"/>
          </a:xfrm>
          <a:prstGeom prst="rect">
            <a:avLst/>
          </a:prstGeom>
        </p:spPr>
      </p:pic>
      <p:pic>
        <p:nvPicPr>
          <p:cNvPr id="97" name="Picture 96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790190"/>
            <a:ext cx="302260" cy="302260"/>
          </a:xfrm>
          <a:prstGeom prst="rect">
            <a:avLst/>
          </a:prstGeom>
        </p:spPr>
      </p:pic>
      <p:pic>
        <p:nvPicPr>
          <p:cNvPr id="98" name="Picture 97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0"/>
            <a:ext cx="302260" cy="302260"/>
          </a:xfrm>
          <a:prstGeom prst="rect">
            <a:avLst/>
          </a:prstGeom>
        </p:spPr>
      </p:pic>
      <p:pic>
        <p:nvPicPr>
          <p:cNvPr id="99" name="Picture 98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81810"/>
            <a:ext cx="302260" cy="302260"/>
          </a:xfrm>
          <a:prstGeom prst="rect">
            <a:avLst/>
          </a:prstGeom>
        </p:spPr>
      </p:pic>
      <p:pic>
        <p:nvPicPr>
          <p:cNvPr id="2" name="Picture 1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7101840" y="5121910"/>
            <a:ext cx="370840" cy="312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-30162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/>
              <a:t>Market Survey - Food Apps</a:t>
            </a:r>
            <a:endParaRPr lang="en-US" sz="3600" b="1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219200" y="1066537"/>
          <a:ext cx="6941185" cy="541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987"/>
                <a:gridCol w="1366404"/>
                <a:gridCol w="1311835"/>
                <a:gridCol w="1771650"/>
              </a:tblGrid>
              <a:tr h="593844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12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Modules/App</a:t>
                      </a:r>
                      <a:endParaRPr lang="en-US" sz="1200" spc="12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kern="1200" spc="12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FoodPanda </a:t>
                      </a:r>
                      <a:endParaRPr lang="en-US" sz="1600" b="1" i="0" kern="1200" spc="12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  <a:sym typeface="+mn-ea"/>
                        </a:rPr>
                        <a:t>Restaurant Finder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  <a:sym typeface="+mn-ea"/>
                        </a:rPr>
                        <a:t>Yelp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Travel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Food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Reviews &amp; Ratings (UGC)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Maps Integration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Bookings / Reservation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Budget Tracking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Expense Categorization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Deals &amp; Discounts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</a:tbl>
          </a:graphicData>
        </a:graphic>
      </p:graphicFrame>
      <p:sp>
        <p:nvSpPr>
          <p:cNvPr id="9" name="Rectangles 8"/>
          <p:cNvSpPr/>
          <p:nvPr/>
        </p:nvSpPr>
        <p:spPr>
          <a:xfrm>
            <a:off x="-635" y="5486400"/>
            <a:ext cx="9144000" cy="1388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8" name="Picture 57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828800"/>
            <a:ext cx="302260" cy="302260"/>
          </a:xfrm>
          <a:prstGeom prst="rect">
            <a:avLst/>
          </a:prstGeom>
        </p:spPr>
      </p:pic>
      <p:pic>
        <p:nvPicPr>
          <p:cNvPr id="59" name="Picture 58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183380" y="2242820"/>
            <a:ext cx="370840" cy="312420"/>
          </a:xfrm>
          <a:prstGeom prst="rect">
            <a:avLst/>
          </a:prstGeom>
        </p:spPr>
      </p:pic>
      <p:pic>
        <p:nvPicPr>
          <p:cNvPr id="60" name="Picture 59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183380" y="2800985"/>
            <a:ext cx="370840" cy="312420"/>
          </a:xfrm>
          <a:prstGeom prst="rect">
            <a:avLst/>
          </a:prstGeom>
        </p:spPr>
      </p:pic>
      <p:pic>
        <p:nvPicPr>
          <p:cNvPr id="61" name="Picture 60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183380" y="3248025"/>
            <a:ext cx="370840" cy="312420"/>
          </a:xfrm>
          <a:prstGeom prst="rect">
            <a:avLst/>
          </a:prstGeom>
        </p:spPr>
      </p:pic>
      <p:pic>
        <p:nvPicPr>
          <p:cNvPr id="62" name="Picture 61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183380" y="3723005"/>
            <a:ext cx="370840" cy="312420"/>
          </a:xfrm>
          <a:prstGeom prst="rect">
            <a:avLst/>
          </a:prstGeom>
        </p:spPr>
      </p:pic>
      <p:pic>
        <p:nvPicPr>
          <p:cNvPr id="63" name="Picture 62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206240" y="5123815"/>
            <a:ext cx="370840" cy="312420"/>
          </a:xfrm>
          <a:prstGeom prst="rect">
            <a:avLst/>
          </a:prstGeom>
        </p:spPr>
      </p:pic>
      <p:pic>
        <p:nvPicPr>
          <p:cNvPr id="64" name="Picture 63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4249420"/>
            <a:ext cx="302260" cy="302260"/>
          </a:xfrm>
          <a:prstGeom prst="rect">
            <a:avLst/>
          </a:prstGeom>
        </p:spPr>
      </p:pic>
      <p:pic>
        <p:nvPicPr>
          <p:cNvPr id="65" name="Picture 64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4677410"/>
            <a:ext cx="302260" cy="302260"/>
          </a:xfrm>
          <a:prstGeom prst="rect">
            <a:avLst/>
          </a:prstGeom>
        </p:spPr>
      </p:pic>
      <p:pic>
        <p:nvPicPr>
          <p:cNvPr id="50" name="Picture 49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1781810"/>
            <a:ext cx="302260" cy="302260"/>
          </a:xfrm>
          <a:prstGeom prst="rect">
            <a:avLst/>
          </a:prstGeom>
        </p:spPr>
      </p:pic>
      <p:pic>
        <p:nvPicPr>
          <p:cNvPr id="51" name="Picture 50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5654040" y="2257425"/>
            <a:ext cx="370840" cy="312420"/>
          </a:xfrm>
          <a:prstGeom prst="rect">
            <a:avLst/>
          </a:prstGeom>
        </p:spPr>
      </p:pic>
      <p:pic>
        <p:nvPicPr>
          <p:cNvPr id="52" name="Picture 51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5649595" y="2761615"/>
            <a:ext cx="370840" cy="312420"/>
          </a:xfrm>
          <a:prstGeom prst="rect">
            <a:avLst/>
          </a:prstGeom>
        </p:spPr>
      </p:pic>
      <p:pic>
        <p:nvPicPr>
          <p:cNvPr id="53" name="Picture 52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5669915" y="3223260"/>
            <a:ext cx="370840" cy="312420"/>
          </a:xfrm>
          <a:prstGeom prst="rect">
            <a:avLst/>
          </a:prstGeom>
        </p:spPr>
      </p:pic>
      <p:pic>
        <p:nvPicPr>
          <p:cNvPr id="54" name="Picture 53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3761740"/>
            <a:ext cx="302260" cy="302260"/>
          </a:xfrm>
          <a:prstGeom prst="rect">
            <a:avLst/>
          </a:prstGeom>
        </p:spPr>
      </p:pic>
      <p:pic>
        <p:nvPicPr>
          <p:cNvPr id="55" name="Picture 54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4256405"/>
            <a:ext cx="302260" cy="302260"/>
          </a:xfrm>
          <a:prstGeom prst="rect">
            <a:avLst/>
          </a:prstGeom>
        </p:spPr>
      </p:pic>
      <p:pic>
        <p:nvPicPr>
          <p:cNvPr id="56" name="Picture 55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4699000"/>
            <a:ext cx="302260" cy="302260"/>
          </a:xfrm>
          <a:prstGeom prst="rect">
            <a:avLst/>
          </a:prstGeom>
        </p:spPr>
      </p:pic>
      <p:pic>
        <p:nvPicPr>
          <p:cNvPr id="57" name="Picture 56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5149850"/>
            <a:ext cx="302260" cy="302260"/>
          </a:xfrm>
          <a:prstGeom prst="rect">
            <a:avLst/>
          </a:prstGeom>
        </p:spPr>
      </p:pic>
      <p:pic>
        <p:nvPicPr>
          <p:cNvPr id="83" name="Picture 82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178040" y="2257425"/>
            <a:ext cx="370840" cy="312420"/>
          </a:xfrm>
          <a:prstGeom prst="rect">
            <a:avLst/>
          </a:prstGeom>
        </p:spPr>
      </p:pic>
      <p:pic>
        <p:nvPicPr>
          <p:cNvPr id="84" name="Picture 83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178040" y="2761615"/>
            <a:ext cx="370840" cy="312420"/>
          </a:xfrm>
          <a:prstGeom prst="rect">
            <a:avLst/>
          </a:prstGeom>
        </p:spPr>
      </p:pic>
      <p:pic>
        <p:nvPicPr>
          <p:cNvPr id="85" name="Picture 84" descr="checkmark-5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178040" y="3211830"/>
            <a:ext cx="370840" cy="312420"/>
          </a:xfrm>
          <a:prstGeom prst="rect">
            <a:avLst/>
          </a:prstGeom>
        </p:spPr>
      </p:pic>
      <p:pic>
        <p:nvPicPr>
          <p:cNvPr id="87" name="Picture 86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781810"/>
            <a:ext cx="302260" cy="302260"/>
          </a:xfrm>
          <a:prstGeom prst="rect">
            <a:avLst/>
          </a:prstGeom>
        </p:spPr>
      </p:pic>
      <p:pic>
        <p:nvPicPr>
          <p:cNvPr id="88" name="Picture 87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810000"/>
            <a:ext cx="302260" cy="302260"/>
          </a:xfrm>
          <a:prstGeom prst="rect">
            <a:avLst/>
          </a:prstGeom>
        </p:spPr>
      </p:pic>
      <p:pic>
        <p:nvPicPr>
          <p:cNvPr id="89" name="Picture 88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860" y="4256405"/>
            <a:ext cx="302260" cy="302260"/>
          </a:xfrm>
          <a:prstGeom prst="rect">
            <a:avLst/>
          </a:prstGeom>
        </p:spPr>
      </p:pic>
      <p:pic>
        <p:nvPicPr>
          <p:cNvPr id="90" name="Picture 89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860" y="4722495"/>
            <a:ext cx="302260" cy="302260"/>
          </a:xfrm>
          <a:prstGeom prst="rect">
            <a:avLst/>
          </a:prstGeom>
        </p:spPr>
      </p:pic>
      <p:pic>
        <p:nvPicPr>
          <p:cNvPr id="91" name="Picture 90" descr="pngwing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860" y="5149850"/>
            <a:ext cx="302260" cy="302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-30162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/>
              <a:t>Market Survey - Trip Apps</a:t>
            </a:r>
            <a:endParaRPr lang="en-US" sz="3600" b="1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219200" y="1066537"/>
          <a:ext cx="6941185" cy="541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987"/>
                <a:gridCol w="1366404"/>
                <a:gridCol w="1311835"/>
                <a:gridCol w="1771650"/>
              </a:tblGrid>
              <a:tr h="593844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12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Modules/App</a:t>
                      </a:r>
                      <a:endParaRPr lang="en-US" sz="1200" spc="12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TripAdvisor</a:t>
                      </a:r>
                      <a:endParaRPr lang="en-US" sz="1600" b="1" i="0" kern="1200" spc="12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  <a:sym typeface="+mn-ea"/>
                        </a:rPr>
                        <a:t>Airbnb Exp.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spc="12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Google Travel</a:t>
                      </a:r>
                      <a:endParaRPr lang="en-US" sz="1400" spc="12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Travel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Food Recomendation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Reviews &amp; Ratings (UGC)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Maps Integration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Bookings / Reservation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Budget Tracking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Expense Categorization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Deals &amp; Discounts</a:t>
                      </a: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1326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  <a:tr h="482577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spc="6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5400" marR="25400" marT="63500" marB="63500" anchor="ctr"/>
                </a:tc>
              </a:tr>
            </a:tbl>
          </a:graphicData>
        </a:graphic>
      </p:graphicFrame>
      <p:sp>
        <p:nvSpPr>
          <p:cNvPr id="9" name="Rectangles 8"/>
          <p:cNvSpPr/>
          <p:nvPr/>
        </p:nvSpPr>
        <p:spPr>
          <a:xfrm>
            <a:off x="-635" y="5486400"/>
            <a:ext cx="9144000" cy="1388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4" name="Picture 13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280535" y="1750060"/>
            <a:ext cx="370840" cy="312420"/>
          </a:xfrm>
          <a:prstGeom prst="rect">
            <a:avLst/>
          </a:prstGeom>
        </p:spPr>
      </p:pic>
      <p:pic>
        <p:nvPicPr>
          <p:cNvPr id="15" name="Picture 14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282440" y="2761615"/>
            <a:ext cx="370840" cy="312420"/>
          </a:xfrm>
          <a:prstGeom prst="rect">
            <a:avLst/>
          </a:prstGeom>
        </p:spPr>
      </p:pic>
      <p:pic>
        <p:nvPicPr>
          <p:cNvPr id="16" name="Picture 15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312285" y="3218815"/>
            <a:ext cx="370840" cy="312420"/>
          </a:xfrm>
          <a:prstGeom prst="rect">
            <a:avLst/>
          </a:prstGeom>
        </p:spPr>
      </p:pic>
      <p:pic>
        <p:nvPicPr>
          <p:cNvPr id="17" name="Picture 16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312285" y="3733165"/>
            <a:ext cx="370840" cy="312420"/>
          </a:xfrm>
          <a:prstGeom prst="rect">
            <a:avLst/>
          </a:prstGeom>
        </p:spPr>
      </p:pic>
      <p:pic>
        <p:nvPicPr>
          <p:cNvPr id="18" name="Picture 17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181600"/>
            <a:ext cx="302260" cy="302260"/>
          </a:xfrm>
          <a:prstGeom prst="rect">
            <a:avLst/>
          </a:prstGeom>
        </p:spPr>
      </p:pic>
      <p:pic>
        <p:nvPicPr>
          <p:cNvPr id="19" name="Picture 18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686300"/>
            <a:ext cx="302260" cy="302260"/>
          </a:xfrm>
          <a:prstGeom prst="rect">
            <a:avLst/>
          </a:prstGeom>
        </p:spPr>
      </p:pic>
      <p:pic>
        <p:nvPicPr>
          <p:cNvPr id="20" name="Picture 19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191000"/>
            <a:ext cx="302260" cy="302260"/>
          </a:xfrm>
          <a:prstGeom prst="rect">
            <a:avLst/>
          </a:prstGeom>
        </p:spPr>
      </p:pic>
      <p:pic>
        <p:nvPicPr>
          <p:cNvPr id="21" name="Picture 20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86000"/>
            <a:ext cx="302260" cy="302260"/>
          </a:xfrm>
          <a:prstGeom prst="rect">
            <a:avLst/>
          </a:prstGeom>
        </p:spPr>
      </p:pic>
      <p:pic>
        <p:nvPicPr>
          <p:cNvPr id="23" name="Picture 22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77840" y="1750060"/>
            <a:ext cx="370840" cy="312420"/>
          </a:xfrm>
          <a:prstGeom prst="rect">
            <a:avLst/>
          </a:prstGeom>
        </p:spPr>
      </p:pic>
      <p:pic>
        <p:nvPicPr>
          <p:cNvPr id="24" name="Picture 23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81650" y="2761615"/>
            <a:ext cx="370840" cy="312420"/>
          </a:xfrm>
          <a:prstGeom prst="rect">
            <a:avLst/>
          </a:prstGeom>
        </p:spPr>
      </p:pic>
      <p:pic>
        <p:nvPicPr>
          <p:cNvPr id="25" name="Picture 24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73395" y="3218815"/>
            <a:ext cx="370840" cy="312420"/>
          </a:xfrm>
          <a:prstGeom prst="rect">
            <a:avLst/>
          </a:prstGeom>
        </p:spPr>
      </p:pic>
      <p:pic>
        <p:nvPicPr>
          <p:cNvPr id="26" name="Picture 25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573395" y="3752215"/>
            <a:ext cx="370840" cy="312420"/>
          </a:xfrm>
          <a:prstGeom prst="rect">
            <a:avLst/>
          </a:prstGeom>
        </p:spPr>
      </p:pic>
      <p:pic>
        <p:nvPicPr>
          <p:cNvPr id="27" name="Picture 26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2286000"/>
            <a:ext cx="302260" cy="302260"/>
          </a:xfrm>
          <a:prstGeom prst="rect">
            <a:avLst/>
          </a:prstGeom>
        </p:spPr>
      </p:pic>
      <p:pic>
        <p:nvPicPr>
          <p:cNvPr id="28" name="Picture 27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4267200"/>
            <a:ext cx="302260" cy="302260"/>
          </a:xfrm>
          <a:prstGeom prst="rect">
            <a:avLst/>
          </a:prstGeom>
        </p:spPr>
      </p:pic>
      <p:pic>
        <p:nvPicPr>
          <p:cNvPr id="29" name="Picture 28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4677410"/>
            <a:ext cx="302260" cy="302260"/>
          </a:xfrm>
          <a:prstGeom prst="rect">
            <a:avLst/>
          </a:prstGeom>
        </p:spPr>
      </p:pic>
      <p:pic>
        <p:nvPicPr>
          <p:cNvPr id="30" name="Picture 29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5152390"/>
            <a:ext cx="302260" cy="302260"/>
          </a:xfrm>
          <a:prstGeom prst="rect">
            <a:avLst/>
          </a:prstGeom>
        </p:spPr>
      </p:pic>
      <p:pic>
        <p:nvPicPr>
          <p:cNvPr id="31" name="Picture 30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191000"/>
            <a:ext cx="302260" cy="302260"/>
          </a:xfrm>
          <a:prstGeom prst="rect">
            <a:avLst/>
          </a:prstGeom>
        </p:spPr>
      </p:pic>
      <p:pic>
        <p:nvPicPr>
          <p:cNvPr id="32" name="Picture 31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677410"/>
            <a:ext cx="302260" cy="302260"/>
          </a:xfrm>
          <a:prstGeom prst="rect">
            <a:avLst/>
          </a:prstGeom>
        </p:spPr>
      </p:pic>
      <p:pic>
        <p:nvPicPr>
          <p:cNvPr id="33" name="Picture 32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5163820"/>
            <a:ext cx="302260" cy="302260"/>
          </a:xfrm>
          <a:prstGeom prst="rect">
            <a:avLst/>
          </a:prstGeom>
        </p:spPr>
      </p:pic>
      <p:pic>
        <p:nvPicPr>
          <p:cNvPr id="34" name="Picture 33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713990"/>
            <a:ext cx="302260" cy="302260"/>
          </a:xfrm>
          <a:prstGeom prst="rect">
            <a:avLst/>
          </a:prstGeom>
        </p:spPr>
      </p:pic>
      <p:pic>
        <p:nvPicPr>
          <p:cNvPr id="35" name="Picture 34" descr="pngwing.c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209800"/>
            <a:ext cx="302260" cy="302260"/>
          </a:xfrm>
          <a:prstGeom prst="rect">
            <a:avLst/>
          </a:prstGeom>
        </p:spPr>
      </p:pic>
      <p:pic>
        <p:nvPicPr>
          <p:cNvPr id="36" name="Picture 35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6972300" y="3135630"/>
            <a:ext cx="370840" cy="312420"/>
          </a:xfrm>
          <a:prstGeom prst="rect">
            <a:avLst/>
          </a:prstGeom>
        </p:spPr>
      </p:pic>
      <p:pic>
        <p:nvPicPr>
          <p:cNvPr id="37" name="Picture 36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6960870" y="3676015"/>
            <a:ext cx="370840" cy="312420"/>
          </a:xfrm>
          <a:prstGeom prst="rect">
            <a:avLst/>
          </a:prstGeom>
        </p:spPr>
      </p:pic>
      <p:pic>
        <p:nvPicPr>
          <p:cNvPr id="38" name="Picture 37" descr="checkmark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6995160" y="1677035"/>
            <a:ext cx="370840" cy="3124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228600" y="1524000"/>
          <a:ext cx="8597265" cy="2538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090"/>
                <a:gridCol w="6226175"/>
              </a:tblGrid>
              <a:tr h="7099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PROBLEM (1)</a:t>
                      </a:r>
                      <a:endParaRPr lang="en-US" sz="18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Tourists struggle to manage their expenses efficiently due to a lack of integrated budgeting tools during travel.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AFFECTS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Tourist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102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THE RESULT OF WHICH 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Overspending, financial stress, and limited travel experiences.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BENEFIT OF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Better financial planning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Stress-free travel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Cost-effective decisions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Increased control over spending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3400" y="-76517"/>
            <a:ext cx="8229600" cy="1143000"/>
          </a:xfrm>
        </p:spPr>
        <p:txBody>
          <a:bodyPr/>
          <a:p>
            <a:pPr eaLnBrk="1" hangingPunct="1"/>
            <a:r>
              <a:rPr lang="en-US" altLang="en-US">
                <a:sym typeface="+mn-ea"/>
              </a:rPr>
              <a:t>PROBLEM STATEMENT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228600" y="1524000"/>
          <a:ext cx="8597265" cy="2538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65"/>
                <a:gridCol w="6235700"/>
              </a:tblGrid>
              <a:tr h="7099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PROBLEM (2)</a:t>
                      </a:r>
                      <a:endParaRPr lang="en-US" sz="18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Tourists often find it difficult to locate local authentic food due to generic recommendations and lack of local insight.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AFFECTS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Tourists, Business Owners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102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THE RESULT OF WHICH 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Reliance on commercial or touristy food spots, reduced cultural disappearance, and dissatisfaction.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BENEFIT OF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Genuine cultural experiences.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Support for local eateries.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Enhanced satisfaction for food-focused travelers.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Discovery of diverse cuisines.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Less budget intake.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3400" y="-76517"/>
            <a:ext cx="8229600" cy="1143000"/>
          </a:xfrm>
        </p:spPr>
        <p:txBody>
          <a:bodyPr/>
          <a:p>
            <a:pPr eaLnBrk="1" hangingPunct="1"/>
            <a:r>
              <a:rPr lang="en-US" altLang="en-US">
                <a:sym typeface="+mn-ea"/>
              </a:rPr>
              <a:t>PROBLEM STATEMENT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228600" y="1524000"/>
          <a:ext cx="8597265" cy="2538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65"/>
                <a:gridCol w="6235700"/>
              </a:tblGrid>
              <a:tr h="7099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PROBLEM (3)</a:t>
                      </a:r>
                      <a:endParaRPr lang="en-US" sz="18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Exploring off-the-beaten-path or lesser-known destinations is challenging.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AFFECTS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Tourists, Business Owners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102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THE RESULT OF WHICH 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Missed opportunities, repetitive tourist routines, and overcrowding at mainstream attractions.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b="1"/>
                        <a:t>BENEFIT OF</a:t>
                      </a:r>
                      <a:endParaRPr lang="en-US" b="1"/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Better crowd distribution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Unique travel experiences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Promotion of lesser-known destinations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/>
                        <a:t>Greater satisfaction for adventurous tourists</a:t>
                      </a:r>
                      <a:endParaRPr lang="en-US" altLang="en-US"/>
                    </a:p>
                  </a:txBody>
                  <a:tcPr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3400" y="-76517"/>
            <a:ext cx="8229600" cy="1143000"/>
          </a:xfrm>
        </p:spPr>
        <p:txBody>
          <a:bodyPr/>
          <a:p>
            <a:pPr eaLnBrk="1" hangingPunct="1"/>
            <a:r>
              <a:rPr lang="en-US" altLang="en-US">
                <a:sym typeface="+mn-ea"/>
              </a:rPr>
              <a:t>PROBLEM STATEMENT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+mn-ea"/>
              </a:rPr>
              <a:t>We provide a </a:t>
            </a:r>
            <a:r>
              <a:rPr lang="en-US" altLang="en-US" b="1">
                <a:sym typeface="+mn-ea"/>
              </a:rPr>
              <a:t>Solution </a:t>
            </a:r>
            <a:r>
              <a:rPr lang="en-US" altLang="en-US">
                <a:sym typeface="+mn-ea"/>
              </a:rPr>
              <a:t>which:</a:t>
            </a:r>
            <a:endParaRPr lang="en-US" altLang="en-US">
              <a:sym typeface="+mn-ea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49885" y="1038225"/>
            <a:ext cx="8336915" cy="447675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buNone/>
            </a:pPr>
            <a:endParaRPr lang="en-US" altLang="en-US" sz="1400"/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 Will be able to p</a:t>
            </a:r>
            <a:r>
              <a:rPr lang="en-US" altLang="en-US" sz="2400">
                <a:sym typeface="+mn-ea"/>
              </a:rPr>
              <a:t>rovide a dynamic budget engine based on user’s input (budget, destination, duration).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ym typeface="+mn-ea"/>
              </a:rPr>
              <a:t>Will be able to give recommendations for food spots (local + hidden + authentic) by using UGC + API’s + data scraping for reliable and diverse recommendations.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ym typeface="+mn-ea"/>
              </a:rPr>
              <a:t>Will be able to show maps for navigation and discovery around them in a specific region.</a:t>
            </a:r>
            <a:endParaRPr lang="en-US" altLang="en-US" sz="2400"/>
          </a:p>
          <a:p>
            <a:pPr algn="l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Current Phase:</a:t>
            </a:r>
            <a:endParaRPr lang="en-US" alt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2681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/>
              <a:t>Dynamic budget management engine.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Restaurants &amp; Tour spots recommendations.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UGC integration with basic rewards system.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Fetching structured data from platforms like Google </a:t>
            </a:r>
            <a:br>
              <a:rPr lang="en-US" altLang="en-US" sz="2400"/>
            </a:br>
            <a:r>
              <a:rPr lang="en-US" altLang="en-US" sz="2400"/>
              <a:t>Maps and travel APIs.</a:t>
            </a:r>
            <a:endParaRPr lang="en-US" altLang="en-US" sz="2400"/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Location discovery, route planning, and navigation.</a:t>
            </a:r>
            <a:endParaRPr lang="en-US" altLang="en-US" sz="240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43000"/>
          </a:xfrm>
        </p:spPr>
        <p:txBody>
          <a:bodyPr/>
          <a:p>
            <a:r>
              <a:rPr lang="en-US" altLang="en-US"/>
              <a:t>Future Enhancements: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9660"/>
            <a:ext cx="8229600" cy="4883150"/>
          </a:xfrm>
        </p:spPr>
        <p:txBody>
          <a:bodyPr/>
          <a:p>
            <a:pPr algn="l">
              <a:lnSpc>
                <a:spcPct val="150000"/>
              </a:lnSpc>
            </a:pPr>
            <a:r>
              <a:rPr lang="en-US" altLang="en-US" sz="2400"/>
              <a:t>Direct booking &amp; reservations (hotels, buses, restaurants).</a:t>
            </a:r>
            <a:endParaRPr lang="en-US" altLang="en-US" sz="2400"/>
          </a:p>
          <a:p>
            <a:pPr algn="l">
              <a:lnSpc>
                <a:spcPct val="150000"/>
              </a:lnSpc>
            </a:pPr>
            <a:r>
              <a:rPr lang="en-US" altLang="en-US" sz="2400"/>
              <a:t>Advanced AI-powered personalized recommendations.</a:t>
            </a:r>
            <a:endParaRPr lang="en-US" altLang="en-US" sz="2400"/>
          </a:p>
          <a:p>
            <a:pPr algn="l">
              <a:lnSpc>
                <a:spcPct val="150000"/>
              </a:lnSpc>
            </a:pPr>
            <a:r>
              <a:rPr lang="en-US" altLang="en-US" sz="2400"/>
              <a:t>Full halal/haram food and other food filter’s classification engine.</a:t>
            </a:r>
            <a:endParaRPr lang="en-US" altLang="en-US" sz="2400"/>
          </a:p>
          <a:p>
            <a:pPr algn="l">
              <a:lnSpc>
                <a:spcPct val="150000"/>
              </a:lnSpc>
            </a:pPr>
            <a:r>
              <a:rPr lang="en-US" altLang="en-US" sz="2400"/>
              <a:t>Extended shopping &amp; tourism modules with richer datasets.</a:t>
            </a:r>
            <a:endParaRPr lang="en-US" altLang="en-US" sz="2400"/>
          </a:p>
          <a:p>
            <a:pPr algn="l">
              <a:lnSpc>
                <a:spcPct val="150000"/>
              </a:lnSpc>
            </a:pPr>
            <a:r>
              <a:rPr lang="en-US" altLang="en-US" sz="2400"/>
              <a:t>More sophisticated reward/gamification system for contributors.</a:t>
            </a:r>
            <a:endParaRPr lang="en-US" altLang="en-US" sz="2400"/>
          </a:p>
          <a:p>
            <a:pPr algn="l">
              <a:lnSpc>
                <a:spcPct val="150000"/>
              </a:lnSpc>
            </a:pPr>
            <a:r>
              <a:rPr lang="en-US" altLang="en-US" sz="2400"/>
              <a:t>and many more</a:t>
            </a:r>
            <a:endParaRPr lang="en-US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6883" y="1066800"/>
            <a:ext cx="7772400" cy="13620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ANY QUESTIONS / SUGGESTIONS ?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93*456"/>
  <p:tag name="TABLE_ENDDRAG_RECT" val="17*61*693*456"/>
  <p:tag name="TABLE_AUTOADJUST_FLAG" val="1"/>
</p:tagLst>
</file>

<file path=ppt/tags/tag2.xml><?xml version="1.0" encoding="utf-8"?>
<p:tagLst xmlns:p="http://schemas.openxmlformats.org/presentationml/2006/main">
  <p:tag name="TABLE_ENDDRAG_ORIGIN_RECT" val="693*456"/>
  <p:tag name="TABLE_ENDDRAG_RECT" val="17*61*693*456"/>
  <p:tag name="TABLE_AUTOADJUST_FLAG" val="1"/>
</p:tagLst>
</file>

<file path=ppt/tags/tag3.xml><?xml version="1.0" encoding="utf-8"?>
<p:tagLst xmlns:p="http://schemas.openxmlformats.org/presentationml/2006/main">
  <p:tag name="TABLE_ENDDRAG_ORIGIN_RECT" val="693*456"/>
  <p:tag name="TABLE_ENDDRAG_RECT" val="17*61*693*456"/>
  <p:tag name="TABLE_AUTOADJUST_FLAG" val="1"/>
</p:tagLst>
</file>

<file path=ppt/tags/tag4.xml><?xml version="1.0" encoding="utf-8"?>
<p:tagLst xmlns:p="http://schemas.openxmlformats.org/presentationml/2006/main">
  <p:tag name="TABLE_ENDDRAG_ORIGIN_RECT" val="657*255"/>
  <p:tag name="TABLE_ENDDRAG_RECT" val="29*96*657*255"/>
</p:tagLst>
</file>

<file path=ppt/tags/tag5.xml><?xml version="1.0" encoding="utf-8"?>
<p:tagLst xmlns:p="http://schemas.openxmlformats.org/presentationml/2006/main">
  <p:tag name="TABLE_ENDDRAG_ORIGIN_RECT" val="657*255"/>
  <p:tag name="TABLE_ENDDRAG_RECT" val="29*96*657*255"/>
</p:tagLst>
</file>

<file path=ppt/tags/tag6.xml><?xml version="1.0" encoding="utf-8"?>
<p:tagLst xmlns:p="http://schemas.openxmlformats.org/presentationml/2006/main">
  <p:tag name="TABLE_ENDDRAG_ORIGIN_RECT" val="657*255"/>
  <p:tag name="TABLE_ENDDRAG_RECT" val="29*96*657*2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4661</Words>
  <Application>WPS Presentation</Application>
  <PresentationFormat>On-screen Show (4:3)</PresentationFormat>
  <Paragraphs>236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Final Year Project Proposal</vt:lpstr>
      <vt:lpstr>Project Team</vt:lpstr>
      <vt:lpstr>Table of Content</vt:lpstr>
      <vt:lpstr>Opportunity &amp; Stakeholders</vt:lpstr>
      <vt:lpstr>Opportunity</vt:lpstr>
      <vt:lpstr>Stakeholders</vt:lpstr>
      <vt:lpstr>Existing Systems</vt:lpstr>
      <vt:lpstr>PowerPoint 演示文稿</vt:lpstr>
      <vt:lpstr>Market Survey - Key Features</vt:lpstr>
      <vt:lpstr>Market Survey - Budget Apps</vt:lpstr>
      <vt:lpstr>Market Survey - Food Apps</vt:lpstr>
      <vt:lpstr>Market Survey - Trip Apps</vt:lpstr>
      <vt:lpstr>Problem Statement</vt:lpstr>
      <vt:lpstr>We provide a Solution which:</vt:lpstr>
      <vt:lpstr>PROBLEM STATEMENT</vt:lpstr>
      <vt:lpstr>PROBLEM STATEMENT</vt:lpstr>
      <vt:lpstr>Proposed Solution</vt:lpstr>
      <vt:lpstr>We provide a Solution which:</vt:lpstr>
      <vt:lpstr>Project Scope</vt:lpstr>
      <vt:lpstr>In Current Phase:</vt:lpstr>
      <vt:lpstr>Future Enhancements:</vt:lpstr>
      <vt:lpstr>ANY QUESTIONS / SUGGESTIONS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Abdullah Ahtsham</cp:lastModifiedBy>
  <cp:revision>64</cp:revision>
  <dcterms:created xsi:type="dcterms:W3CDTF">2013-01-22T07:04:00Z</dcterms:created>
  <dcterms:modified xsi:type="dcterms:W3CDTF">2025-09-18T09:24:43Z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FAEE5F89958D4F3EAAEB64D0EE389764_13</vt:lpwstr>
  </property>
  <property fmtid="{D5CDD505-2E9C-101B-9397-08002B2CF9AE}" pid="3" name="KSOProductBuildVer">
    <vt:lpwstr>1033-12.2.0.22222</vt:lpwstr>
  </property>
</Properties>
</file>