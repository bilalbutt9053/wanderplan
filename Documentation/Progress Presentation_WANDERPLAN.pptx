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59" r:id="rId7"/>
    <p:sldId id="283" r:id="rId8"/>
    <p:sldId id="284" r:id="rId9"/>
    <p:sldId id="285" r:id="rId10"/>
    <p:sldId id="286" r:id="rId11"/>
    <p:sldId id="269" r:id="rId12"/>
    <p:sldId id="261" r:id="rId13"/>
    <p:sldId id="271" r:id="rId14"/>
    <p:sldId id="287" r:id="rId15"/>
    <p:sldId id="288" r:id="rId16"/>
    <p:sldId id="289" r:id="rId17"/>
    <p:sldId id="290" r:id="rId18"/>
    <p:sldId id="279" r:id="rId19"/>
    <p:sldId id="274" r:id="rId20"/>
    <p:sldId id="280" r:id="rId21"/>
    <p:sldId id="296" r:id="rId22"/>
    <p:sldId id="297" r:id="rId23"/>
    <p:sldId id="298" r:id="rId24"/>
    <p:sldId id="263" r:id="rId25"/>
    <p:sldId id="282" r:id="rId26"/>
    <p:sldId id="291" r:id="rId27"/>
    <p:sldId id="292" r:id="rId28"/>
    <p:sldId id="281" r:id="rId29"/>
    <p:sldId id="275" r:id="rId30"/>
    <p:sldId id="293" r:id="rId31"/>
    <p:sldId id="264" r:id="rId32"/>
    <p:sldId id="277" r:id="rId33"/>
    <p:sldId id="276" r:id="rId34"/>
    <p:sldId id="294" r:id="rId35"/>
    <p:sldId id="295" r:id="rId36"/>
    <p:sldId id="278" r:id="rId37"/>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4" d="100"/>
          <a:sy n="84" d="100"/>
        </p:scale>
        <p:origin x="1418"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2D5EA8C-31D8-4AE2-B882-84C84F479477}"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C1F5670-D3F4-45C7-B985-727ECBBC4E31}"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AD9CD17A-954D-467D-91A5-E7BCAA89A8CF}"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23E33BD-E18E-4BE1-9714-EE4282389175}"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9B7D8F27-B1E0-4579-A0D4-F4DE761D87B0}"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94A030-EF6A-4762-B30C-DE8655F57C1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21E9A495-73A6-4F65-8AAC-5D89FFE343E7}"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367087B-68C8-47F2-B5D0-EF32CB23F865}"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04590D62-48B1-4815-B83E-6D1A5DC794AF}" type="datetimeFigureOut">
              <a:rPr lang="en-US"/>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4497330-42CC-42AC-87F9-5A3675C691E0}"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FD49768-A570-41B7-95C0-54055C4A81EA}" type="datetimeFigureOut">
              <a:rPr lang="en-US"/>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06CAFDE-0C38-456D-B802-21864C3F830D}"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923B2D8-3E52-4F62-9DC4-54C38533946B}" type="datetimeFigureOut">
              <a:rPr lang="en-US"/>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4B0D651-56A8-4CE0-9D94-65BDDFDEBFA7}"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99B30D5C-5BFF-46B6-BA99-36AC4468BF79}"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17F8457-8BC5-42F4-9665-36B7DF8528E8}"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67F9CFCE-761F-40B2-848A-CB9D594FBAFC}" type="datetimeFigureOut">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370734B-61FB-498A-8F45-B91ADB27494E}"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459876BE-1A06-47CE-A4A2-6C5C1D1C326F}"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EE3F1DD-6A4D-4A6A-9723-33B3A792EBB9}"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ACE2D721-3603-4DC2-ACAB-C8C719AFE1B1}" type="datetimeFigureOut">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1A63DAF-319D-456B-AC92-51897CFD44FC}"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print">
            <a:lum/>
          </a:blip>
          <a:srcRect/>
          <a:stretch>
            <a:fillRect l="-5000" r="-5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00E64A2-E0A4-4DC6-9829-7CF64BBF5B65}" type="datetimeFigureOut">
              <a:rPr lang="en-US"/>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6E01495-F694-4C46-966A-5FC739EB7C9F}"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l="-5000" r="-5000"/>
          </a:stretch>
        </a:blipFill>
        <a:effectLst/>
      </p:bgPr>
    </p:bg>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dirty="0"/>
              <a:t>Final Year Project</a:t>
            </a:r>
            <a:endParaRPr lang="en-US" dirty="0"/>
          </a:p>
        </p:txBody>
      </p:sp>
      <p:sp>
        <p:nvSpPr>
          <p:cNvPr id="5123" name="Subtitle 2"/>
          <p:cNvSpPr>
            <a:spLocks noGrp="1"/>
          </p:cNvSpPr>
          <p:nvPr>
            <p:ph type="subTitle" idx="1"/>
          </p:nvPr>
        </p:nvSpPr>
        <p:spPr/>
        <p:txBody>
          <a:bodyPr rtlCol="0">
            <a:normAutofit/>
          </a:bodyPr>
          <a:lstStyle/>
          <a:p>
            <a:pPr marL="63500" eaLnBrk="1" fontAlgn="auto" hangingPunct="1">
              <a:spcAft>
                <a:spcPts val="0"/>
              </a:spcAft>
              <a:buFont typeface="Arial" panose="020B0604020202020204" pitchFamily="34" charset="0"/>
              <a:buNone/>
              <a:defRPr/>
            </a:pPr>
            <a:r>
              <a:rPr lang="en-US" dirty="0"/>
              <a:t>WanderPlan</a:t>
            </a:r>
            <a:endParaRPr lang="en-US" dirty="0"/>
          </a:p>
          <a:p>
            <a:pPr marL="63500" eaLnBrk="1" fontAlgn="auto" hangingPunct="1">
              <a:spcAft>
                <a:spcPts val="0"/>
              </a:spcAft>
              <a:buFont typeface="Arial" panose="020B0604020202020204" pitchFamily="34" charset="0"/>
              <a:buNone/>
              <a:defRPr/>
            </a:pPr>
            <a:r>
              <a:rPr lang="en-US" sz="1400" dirty="0"/>
              <a:t>Supervised By: Shehzad Ahmad Khan</a:t>
            </a:r>
            <a:endParaRPr lang="en-US" sz="1400" dirty="0"/>
          </a:p>
        </p:txBody>
      </p:sp>
      <p:pic>
        <p:nvPicPr>
          <p:cNvPr id="2052" name="Picture 3" descr="Riphah.jpg"/>
          <p:cNvPicPr>
            <a:picLocks noChangeAspect="1"/>
          </p:cNvPicPr>
          <p:nvPr/>
        </p:nvPicPr>
        <p:blipFill>
          <a:blip r:embed="rId2" cstate="print">
            <a:extLst>
              <a:ext uri="{28A0092B-C50C-407E-A947-70E740481C1C}">
                <a14:useLocalDpi xmlns:a14="http://schemas.microsoft.com/office/drawing/2010/main" val="0"/>
              </a:ext>
            </a:extLst>
          </a:blip>
          <a:srcRect l="3033" t="4065" r="6926" b="4926"/>
          <a:stretch>
            <a:fillRect/>
          </a:stretch>
        </p:blipFill>
        <p:spPr bwMode="auto">
          <a:xfrm>
            <a:off x="4076700" y="1295400"/>
            <a:ext cx="99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t>Project Team</a:t>
            </a:r>
            <a:endParaRPr lang="en-US"/>
          </a:p>
        </p:txBody>
      </p:sp>
      <p:sp>
        <p:nvSpPr>
          <p:cNvPr id="3075" name="Content Placeholder 2"/>
          <p:cNvSpPr>
            <a:spLocks noGrp="1"/>
          </p:cNvSpPr>
          <p:nvPr>
            <p:ph idx="1"/>
          </p:nvPr>
        </p:nvSpPr>
        <p:spPr>
          <a:xfrm>
            <a:off x="457200" y="1828800"/>
            <a:ext cx="8229600" cy="4525963"/>
          </a:xfrm>
        </p:spPr>
        <p:txBody>
          <a:bodyPr/>
          <a:lstStyle/>
          <a:p>
            <a:pPr eaLnBrk="1" hangingPunct="1"/>
            <a:r>
              <a:rPr lang="en-US" sz="2800"/>
              <a:t>Abdullah Ahtsham (45679)</a:t>
            </a:r>
            <a:endParaRPr lang="en-US" sz="2800"/>
          </a:p>
          <a:p>
            <a:pPr eaLnBrk="1" hangingPunct="1"/>
            <a:r>
              <a:rPr lang="en-US" sz="2800"/>
              <a:t>M. Nabeel Awais    (43944)</a:t>
            </a:r>
            <a:endParaRPr lang="en-US" sz="2800"/>
          </a:p>
          <a:p>
            <a:pPr eaLnBrk="1" hangingPunct="1"/>
            <a:r>
              <a:rPr lang="en-US" sz="2800"/>
              <a:t>M. Bilal Butt            (44712)</a:t>
            </a:r>
            <a:endParaRPr lang="en-US" sz="2800"/>
          </a:p>
          <a:p>
            <a:pPr eaLnBrk="1" hangingPunct="1"/>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t>Table of Content</a:t>
            </a:r>
            <a:endParaRPr lang="en-US"/>
          </a:p>
        </p:txBody>
      </p:sp>
      <p:sp>
        <p:nvSpPr>
          <p:cNvPr id="4099" name="Content Placeholder 2"/>
          <p:cNvSpPr>
            <a:spLocks noGrp="1"/>
          </p:cNvSpPr>
          <p:nvPr>
            <p:ph idx="1"/>
          </p:nvPr>
        </p:nvSpPr>
        <p:spPr/>
        <p:txBody>
          <a:bodyPr/>
          <a:lstStyle/>
          <a:p>
            <a:pPr eaLnBrk="1" hangingPunct="1"/>
            <a:r>
              <a:rPr lang="en-US" sz="2800" dirty="0"/>
              <a:t>Opportunity &amp; Stakeholders </a:t>
            </a:r>
            <a:endParaRPr lang="en-US" sz="2800" dirty="0"/>
          </a:p>
          <a:p>
            <a:pPr eaLnBrk="1" hangingPunct="1"/>
            <a:r>
              <a:rPr lang="en-US" sz="2800" dirty="0"/>
              <a:t>Solution</a:t>
            </a:r>
            <a:endParaRPr lang="en-US" sz="2800" dirty="0"/>
          </a:p>
          <a:p>
            <a:pPr eaLnBrk="1" hangingPunct="1"/>
            <a:r>
              <a:rPr lang="en-US" sz="2800" dirty="0"/>
              <a:t>Progress Report Summary</a:t>
            </a:r>
            <a:endParaRPr lang="en-US" sz="2800" dirty="0"/>
          </a:p>
          <a:p>
            <a:pPr lvl="1" eaLnBrk="1" hangingPunct="1"/>
            <a:r>
              <a:rPr lang="en-US" sz="2400" dirty="0"/>
              <a:t>Requirements</a:t>
            </a:r>
            <a:endParaRPr lang="en-US" sz="2400" dirty="0"/>
          </a:p>
          <a:p>
            <a:pPr lvl="1" eaLnBrk="1" hangingPunct="1"/>
            <a:r>
              <a:rPr lang="en-US" sz="2400" dirty="0"/>
              <a:t>Software System (Design + Implementation + Testing)</a:t>
            </a:r>
            <a:endParaRPr lang="en-US" sz="2400" dirty="0"/>
          </a:p>
          <a:p>
            <a:pPr lvl="1" eaLnBrk="1" hangingPunct="1"/>
            <a:r>
              <a:rPr lang="en-US" sz="2400" dirty="0"/>
              <a:t>Endeavour (Team + Work + Way of Working)</a:t>
            </a:r>
            <a:endParaRPr lang="en-US" sz="2400" dirty="0"/>
          </a:p>
          <a:p>
            <a:pPr eaLnBrk="1" hangingPunct="1"/>
            <a:r>
              <a:rPr lang="en-US" sz="2800" dirty="0"/>
              <a:t>Next Steps</a:t>
            </a:r>
            <a:endParaRPr lang="en-US" sz="2800" dirty="0"/>
          </a:p>
          <a:p>
            <a:pPr eaLnBrk="1" hangingPunct="1"/>
            <a:r>
              <a:rPr lang="en-US" sz="2800" dirty="0"/>
              <a:t>Prototype / Report</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Opportunity &amp; Stakeholders</a:t>
            </a:r>
            <a:endParaRPr lang="en-US" dirty="0"/>
          </a:p>
        </p:txBody>
      </p:sp>
      <p:sp>
        <p:nvSpPr>
          <p:cNvPr id="8195" name="Text Placeholder 4"/>
          <p:cNvSpPr>
            <a:spLocks noGrp="1"/>
          </p:cNvSpPr>
          <p:nvPr>
            <p:ph type="body" idx="1"/>
          </p:nvPr>
        </p:nvSpPr>
        <p:spPr/>
        <p:txBody>
          <a:bodyPr rtlCol="0">
            <a:normAutofit/>
          </a:bodyPr>
          <a:lstStyle/>
          <a:p>
            <a:pPr marL="44450" eaLnBrk="1" fontAlgn="auto" hangingPunct="1">
              <a:spcAft>
                <a:spcPts val="0"/>
              </a:spcAft>
              <a:buFont typeface="Arial" panose="020B0604020202020204" pitchFamily="34" charset="0"/>
              <a:buNone/>
              <a:defRPr/>
            </a:pPr>
            <a:r>
              <a:rPr lang="en-US"/>
              <a:t>WanderPlan</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Opportunity </a:t>
            </a:r>
            <a:endParaRPr lang="en-US" dirty="0"/>
          </a:p>
        </p:txBody>
      </p:sp>
      <p:graphicFrame>
        <p:nvGraphicFramePr>
          <p:cNvPr id="2" name="Table 2"/>
          <p:cNvGraphicFramePr>
            <a:graphicFrameLocks noGrp="1"/>
          </p:cNvGraphicFramePr>
          <p:nvPr>
            <p:ph idx="1"/>
          </p:nvPr>
        </p:nvGraphicFramePr>
        <p:xfrm>
          <a:off x="457200" y="1600200"/>
          <a:ext cx="8229600" cy="3314065"/>
        </p:xfrm>
        <a:graphic>
          <a:graphicData uri="http://schemas.openxmlformats.org/drawingml/2006/table">
            <a:tbl>
              <a:tblPr firstRow="1" bandRow="1">
                <a:tableStyleId>{5C22544A-7EE6-4342-B048-85BDC9FD1C3A}</a:tableStyleId>
              </a:tblPr>
              <a:tblGrid>
                <a:gridCol w="1447800"/>
                <a:gridCol w="6781800"/>
              </a:tblGrid>
              <a:tr h="499745">
                <a:tc>
                  <a:txBody>
                    <a:bodyPr/>
                    <a:lstStyle/>
                    <a:p>
                      <a:pPr algn="just"/>
                      <a:r>
                        <a:rPr lang="en-US" b="1" dirty="0">
                          <a:solidFill>
                            <a:schemeClr val="tx1"/>
                          </a:solidFill>
                        </a:rPr>
                        <a:t>The Problem</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en-US" sz="1700" b="0" kern="1200" dirty="0">
                          <a:solidFill>
                            <a:schemeClr val="tx1"/>
                          </a:solidFill>
                          <a:effectLst/>
                          <a:latin typeface="+mn-lt"/>
                          <a:ea typeface="+mn-ea"/>
                          <a:cs typeface="+mn-cs"/>
                        </a:rPr>
                        <a:t>Travellers are unable to properly plan and manage their trip budgets.</a:t>
                      </a:r>
                      <a:endParaRPr lang="en-US" altLang="en-US" sz="1700" b="0"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88698">
                <a:tc>
                  <a:txBody>
                    <a:bodyPr/>
                    <a:lstStyle/>
                    <a:p>
                      <a:pPr algn="just"/>
                      <a:r>
                        <a:rPr lang="en-US" b="1"/>
                        <a:t>Affects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700" dirty="0"/>
                        <a:t>Tourists. </a:t>
                      </a:r>
                      <a:endParaRPr lang="en-US" sz="17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06427">
                <a:tc>
                  <a:txBody>
                    <a:bodyPr/>
                    <a:lstStyle/>
                    <a:p>
                      <a:pPr algn="just"/>
                      <a:r>
                        <a:rPr lang="en-US" b="1"/>
                        <a:t>The result of</a:t>
                      </a:r>
                      <a:endParaRPr lang="en-US" b="1"/>
                    </a:p>
                    <a:p>
                      <a:pPr algn="just"/>
                      <a:r>
                        <a:rPr lang="en-US" b="1"/>
                        <a:t>which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lvl="0" indent="-171450">
                        <a:buFont typeface="Arial" panose="020B0604020202020204" pitchFamily="34" charset="0"/>
                        <a:buChar char="•"/>
                      </a:pPr>
                      <a:r>
                        <a:rPr lang="en-US" altLang="en-US" sz="1700" dirty="0"/>
                        <a:t>  The challenge of creating practical routes.</a:t>
                      </a:r>
                      <a:endParaRPr lang="en-US" altLang="en-US" sz="1700" dirty="0"/>
                    </a:p>
                    <a:p>
                      <a:pPr marL="171450" lvl="0" indent="-171450">
                        <a:buFont typeface="Arial" panose="020B0604020202020204" pitchFamily="34" charset="0"/>
                        <a:buChar char="•"/>
                      </a:pPr>
                      <a:r>
                        <a:rPr lang="en-US" altLang="en-US" sz="1700" dirty="0"/>
                        <a:t>  Time lost flipping between several apps for activity costs, accomodation</a:t>
                      </a:r>
                      <a:endParaRPr lang="en-US" altLang="en-US" sz="1700" dirty="0"/>
                    </a:p>
                    <a:p>
                      <a:pPr lvl="0" indent="0">
                        <a:buFont typeface="Arial" panose="020B0604020202020204" pitchFamily="34" charset="0"/>
                        <a:buNone/>
                      </a:pPr>
                      <a:r>
                        <a:rPr lang="en-US" altLang="en-US" sz="1700" dirty="0"/>
                        <a:t>      fares and food prices.</a:t>
                      </a:r>
                      <a:endParaRPr lang="en-US" altLang="en-US" sz="1700" dirty="0"/>
                    </a:p>
                    <a:p>
                      <a:pPr marL="285750" lvl="0" indent="-285750">
                        <a:buFont typeface="Arial" panose="020B0604020202020204" pitchFamily="34" charset="0"/>
                        <a:buChar char="•"/>
                      </a:pPr>
                      <a:r>
                        <a:rPr lang="en-US" altLang="en-US" sz="1700" dirty="0"/>
                        <a:t>Inaccurate budget expectations led to a bad trip.</a:t>
                      </a:r>
                      <a:endParaRPr lang="en-US" altLang="en-US" sz="1700" dirty="0"/>
                    </a:p>
                    <a:p>
                      <a:pPr marL="171450" lvl="0" indent="-171450">
                        <a:buFont typeface="Arial" panose="020B0604020202020204" pitchFamily="34" charset="0"/>
                        <a:buChar char="•"/>
                      </a:pPr>
                      <a:r>
                        <a:rPr lang="en-US" altLang="en-US" sz="1700" dirty="0"/>
                        <a:t>  Unintentionally, tourists overspend or underspend.</a:t>
                      </a:r>
                      <a:endParaRPr lang="en-US" alt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19337">
                <a:tc>
                  <a:txBody>
                    <a:bodyPr/>
                    <a:lstStyle/>
                    <a:p>
                      <a:pPr algn="just"/>
                      <a:r>
                        <a:rPr lang="en-US" b="1"/>
                        <a:t>Benefits of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Automatically created spending plan for lodging, travel, and meals.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Realistic travel schedules derived from local and real-time data.</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A clear breakdown of costs to prevent unforeseen costs.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Enhanced confidence in planning and financial management.</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Opportunity </a:t>
            </a:r>
            <a:endParaRPr lang="en-US" dirty="0"/>
          </a:p>
        </p:txBody>
      </p:sp>
      <p:graphicFrame>
        <p:nvGraphicFramePr>
          <p:cNvPr id="2" name="Table 2"/>
          <p:cNvGraphicFramePr>
            <a:graphicFrameLocks noGrp="1"/>
          </p:cNvGraphicFramePr>
          <p:nvPr>
            <p:ph idx="1"/>
          </p:nvPr>
        </p:nvGraphicFramePr>
        <p:xfrm>
          <a:off x="457200" y="1600200"/>
          <a:ext cx="8229600" cy="4051935"/>
        </p:xfrm>
        <a:graphic>
          <a:graphicData uri="http://schemas.openxmlformats.org/drawingml/2006/table">
            <a:tbl>
              <a:tblPr firstRow="1" bandRow="1">
                <a:tableStyleId>{5C22544A-7EE6-4342-B048-85BDC9FD1C3A}</a:tableStyleId>
              </a:tblPr>
              <a:tblGrid>
                <a:gridCol w="1447800"/>
                <a:gridCol w="6781800"/>
              </a:tblGrid>
              <a:tr h="1001395">
                <a:tc>
                  <a:txBody>
                    <a:bodyPr/>
                    <a:lstStyle/>
                    <a:p>
                      <a:pPr algn="just"/>
                      <a:r>
                        <a:rPr lang="en-US" b="1" dirty="0">
                          <a:solidFill>
                            <a:schemeClr val="tx1"/>
                          </a:solidFill>
                        </a:rPr>
                        <a:t>The Problem</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 indent="0" algn="just">
                        <a:lnSpc>
                          <a:spcPct val="150000"/>
                        </a:lnSpc>
                        <a:spcBef>
                          <a:spcPct val="0"/>
                        </a:spcBef>
                        <a:spcAft>
                          <a:spcPts val="800"/>
                        </a:spcAft>
                      </a:pPr>
                      <a:r>
                        <a:rPr lang="en-US" altLang="en-US" sz="1700" b="0">
                          <a:solidFill>
                            <a:schemeClr val="tx1"/>
                          </a:solidFill>
                          <a:latin typeface="Calibri" panose="020F0502020204030204" pitchFamily="34" charset="0"/>
                          <a:ea typeface="Calibri" panose="020F0502020204030204"/>
                          <a:cs typeface="Calibri" panose="020F0502020204030204" pitchFamily="34" charset="0"/>
                        </a:rPr>
                        <a:t>Tourists cannot accurately estimate transportation costs, distances, or directions, especially in unfamiliar cities where prices vary widely.</a:t>
                      </a:r>
                      <a:r>
                        <a:rPr sz="1700" b="1">
                          <a:latin typeface="Times New Roman" panose="02020603050405020304"/>
                          <a:ea typeface="Calibri" panose="020F0502020204030204"/>
                        </a:rPr>
                        <a:t>es</a:t>
                      </a:r>
                      <a:r>
                        <a:rPr sz="1700">
                          <a:latin typeface="Times New Roman" panose="02020603050405020304"/>
                          <a:ea typeface="Calibri" panose="020F0502020204030204"/>
                        </a:rPr>
                        <a:t> where prices vary widely.</a:t>
                      </a:r>
                      <a:endParaRPr sz="1700">
                        <a:latin typeface="Times New Roman" panose="02020603050405020304"/>
                        <a:ea typeface="Calibri" panose="020F0502020204030204"/>
                      </a:endParaRPr>
                    </a:p>
                  </a:txBody>
                  <a:tcPr marL="68580" marR="68580" marT="0" marB="0" anchor="t"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120">
                <a:tc>
                  <a:txBody>
                    <a:bodyPr/>
                    <a:lstStyle/>
                    <a:p>
                      <a:pPr algn="just"/>
                      <a:r>
                        <a:rPr lang="en-US" b="1"/>
                        <a:t>Affects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700" dirty="0"/>
                        <a:t>Tourists. </a:t>
                      </a:r>
                      <a:endParaRPr lang="en-US" sz="17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06427">
                <a:tc>
                  <a:txBody>
                    <a:bodyPr/>
                    <a:lstStyle/>
                    <a:p>
                      <a:pPr algn="just"/>
                      <a:r>
                        <a:rPr lang="en-US" b="1"/>
                        <a:t>The result of</a:t>
                      </a:r>
                      <a:endParaRPr lang="en-US" b="1"/>
                    </a:p>
                    <a:p>
                      <a:pPr algn="just"/>
                      <a:r>
                        <a:rPr lang="en-US" b="1"/>
                        <a:t>which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lvl="0" indent="-171450">
                        <a:buFont typeface="Arial" panose="020B0604020202020204" pitchFamily="34" charset="0"/>
                        <a:buChar char="•"/>
                      </a:pPr>
                      <a:r>
                        <a:rPr lang="en-US" altLang="en-US" sz="1700" dirty="0"/>
                        <a:t>  Transport services overcharge tourists.</a:t>
                      </a:r>
                      <a:endParaRPr lang="en-US" altLang="en-US" sz="1700" dirty="0"/>
                    </a:p>
                    <a:p>
                      <a:pPr marL="171450" lvl="0" indent="-171450">
                        <a:buFont typeface="Arial" panose="020B0604020202020204" pitchFamily="34" charset="0"/>
                        <a:buChar char="•"/>
                      </a:pPr>
                      <a:r>
                        <a:rPr lang="en-US" altLang="en-US" sz="1700" dirty="0"/>
                        <a:t>  Unknown distances lead to poor trip planning.</a:t>
                      </a:r>
                      <a:endParaRPr lang="en-US" altLang="en-US" sz="1700" dirty="0"/>
                    </a:p>
                    <a:p>
                      <a:pPr marL="171450" lvl="0" indent="-171450">
                        <a:buFont typeface="Arial" panose="020B0604020202020204" pitchFamily="34" charset="0"/>
                        <a:buChar char="•"/>
                      </a:pPr>
                      <a:r>
                        <a:rPr lang="en-US" altLang="en-US" sz="1700" dirty="0"/>
                        <a:t>  Navigating between locations wastes time.</a:t>
                      </a:r>
                      <a:endParaRPr lang="en-US" altLang="en-US" sz="1700" dirty="0"/>
                    </a:p>
                    <a:p>
                      <a:pPr marL="171450" lvl="0" indent="-171450">
                        <a:buFont typeface="Arial" panose="020B0604020202020204" pitchFamily="34" charset="0"/>
                        <a:buChar char="•"/>
                      </a:pPr>
                      <a:r>
                        <a:rPr lang="en-US" altLang="en-US" sz="1700" dirty="0"/>
                        <a:t>  Fear and confusion in strange places.</a:t>
                      </a:r>
                      <a:endParaRPr lang="en-US" alt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19337">
                <a:tc>
                  <a:txBody>
                    <a:bodyPr/>
                    <a:lstStyle/>
                    <a:p>
                      <a:pPr algn="just"/>
                      <a:r>
                        <a:rPr lang="en-US" b="1"/>
                        <a:t>Benefits of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Precise fare and distance estimates prior to travel.</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Clearly defined routes and options.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A visual map of nearby recommendations.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Tourists will feel more confident and have safer mobility.</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Opportunity </a:t>
            </a:r>
            <a:endParaRPr lang="en-US" dirty="0"/>
          </a:p>
        </p:txBody>
      </p:sp>
      <p:graphicFrame>
        <p:nvGraphicFramePr>
          <p:cNvPr id="2" name="Table 2"/>
          <p:cNvGraphicFramePr>
            <a:graphicFrameLocks noGrp="1"/>
          </p:cNvGraphicFramePr>
          <p:nvPr>
            <p:ph idx="1"/>
          </p:nvPr>
        </p:nvGraphicFramePr>
        <p:xfrm>
          <a:off x="457200" y="1600200"/>
          <a:ext cx="8229600" cy="3340100"/>
        </p:xfrm>
        <a:graphic>
          <a:graphicData uri="http://schemas.openxmlformats.org/drawingml/2006/table">
            <a:tbl>
              <a:tblPr firstRow="1" bandRow="1">
                <a:tableStyleId>{5C22544A-7EE6-4342-B048-85BDC9FD1C3A}</a:tableStyleId>
              </a:tblPr>
              <a:tblGrid>
                <a:gridCol w="1447800"/>
                <a:gridCol w="6781800"/>
              </a:tblGrid>
              <a:tr h="499745">
                <a:tc>
                  <a:txBody>
                    <a:bodyPr/>
                    <a:lstStyle/>
                    <a:p>
                      <a:pPr algn="just"/>
                      <a:r>
                        <a:rPr lang="en-US" b="1" dirty="0">
                          <a:solidFill>
                            <a:schemeClr val="tx1"/>
                          </a:solidFill>
                        </a:rPr>
                        <a:t>The Problem</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 indent="0" algn="just">
                        <a:lnSpc>
                          <a:spcPct val="150000"/>
                        </a:lnSpc>
                        <a:spcBef>
                          <a:spcPct val="0"/>
                        </a:spcBef>
                        <a:spcAft>
                          <a:spcPts val="800"/>
                        </a:spcAft>
                      </a:pPr>
                      <a:r>
                        <a:rPr lang="en-US" altLang="en-US" sz="1700" b="0">
                          <a:solidFill>
                            <a:schemeClr val="tx1"/>
                          </a:solidFill>
                          <a:latin typeface="Calibri" panose="020F0502020204030204" pitchFamily="34" charset="0"/>
                          <a:ea typeface="Calibri" panose="020F0502020204030204"/>
                          <a:cs typeface="Calibri" panose="020F0502020204030204" pitchFamily="34" charset="0"/>
                        </a:rPr>
                        <a:t>Existing review platforms often contain outdated, fake, or paid reviews, making it difficult to trust community feedback</a:t>
                      </a:r>
                      <a:r>
                        <a:rPr sz="1700" b="0">
                          <a:solidFill>
                            <a:schemeClr val="tx1"/>
                          </a:solidFill>
                          <a:latin typeface="Calibri" panose="020F0502020204030204" pitchFamily="34" charset="0"/>
                          <a:ea typeface="Calibri" panose="020F0502020204030204"/>
                          <a:cs typeface="Calibri" panose="020F0502020204030204" pitchFamily="34" charset="0"/>
                        </a:rPr>
                        <a:t>s where prices vary widely.</a:t>
                      </a:r>
                      <a:endParaRPr sz="1700" b="0">
                        <a:solidFill>
                          <a:schemeClr val="tx1"/>
                        </a:solidFill>
                        <a:latin typeface="Calibri" panose="020F0502020204030204" pitchFamily="34" charset="0"/>
                        <a:ea typeface="Calibri" panose="020F0502020204030204"/>
                        <a:cs typeface="Calibri" panose="020F0502020204030204" pitchFamily="34" charset="0"/>
                      </a:endParaRPr>
                    </a:p>
                  </a:txBody>
                  <a:tcPr marL="68580" marR="68580" marT="0" marB="0" anchor="t"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88698">
                <a:tc>
                  <a:txBody>
                    <a:bodyPr/>
                    <a:lstStyle/>
                    <a:p>
                      <a:pPr algn="just"/>
                      <a:r>
                        <a:rPr lang="en-US" b="1"/>
                        <a:t>Affects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700" dirty="0"/>
                        <a:t>Tourists, Business Owners.</a:t>
                      </a:r>
                      <a:endParaRPr lang="en-US" sz="17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53135">
                <a:tc>
                  <a:txBody>
                    <a:bodyPr/>
                    <a:lstStyle/>
                    <a:p>
                      <a:pPr algn="just"/>
                      <a:r>
                        <a:rPr lang="en-US" b="1"/>
                        <a:t>The result of</a:t>
                      </a:r>
                      <a:endParaRPr lang="en-US" b="1"/>
                    </a:p>
                    <a:p>
                      <a:pPr algn="just"/>
                      <a:r>
                        <a:rPr lang="en-US" b="1"/>
                        <a:t>which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lvl="0" indent="-171450">
                        <a:buFont typeface="Arial" panose="020B0604020202020204" pitchFamily="34" charset="0"/>
                        <a:buChar char="•"/>
                      </a:pPr>
                      <a:r>
                        <a:rPr lang="en-US" altLang="en-US" sz="1700" dirty="0"/>
                        <a:t>Inaccurate reviews cause tourists to make bad choices.</a:t>
                      </a:r>
                      <a:endParaRPr lang="en-US" altLang="en-US" sz="1700" dirty="0"/>
                    </a:p>
                    <a:p>
                      <a:pPr marL="171450" lvl="0" indent="-171450">
                        <a:buFont typeface="Arial" panose="020B0604020202020204" pitchFamily="34" charset="0"/>
                        <a:buChar char="•"/>
                      </a:pPr>
                      <a:r>
                        <a:rPr lang="en-US" altLang="en-US" sz="1700" dirty="0"/>
                        <a:t>It is difficult for businesses to gain the trust of real customers.</a:t>
                      </a:r>
                      <a:endParaRPr lang="en-US" altLang="en-US" sz="1700" dirty="0"/>
                    </a:p>
                    <a:p>
                      <a:pPr marL="171450" lvl="0" indent="-171450">
                        <a:buFont typeface="Arial" panose="020B0604020202020204" pitchFamily="34" charset="0"/>
                        <a:buChar char="•"/>
                      </a:pPr>
                      <a:r>
                        <a:rPr lang="en-US" altLang="en-US" sz="1700" dirty="0"/>
                        <a:t>There are few options for reporting, filtering, and engaging with reviews.</a:t>
                      </a:r>
                      <a:endParaRPr lang="en-US" alt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19337">
                <a:tc>
                  <a:txBody>
                    <a:bodyPr/>
                    <a:lstStyle/>
                    <a:p>
                      <a:pPr algn="just"/>
                      <a:r>
                        <a:rPr lang="en-US" b="1"/>
                        <a:t>Benefits of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An open and interactive review feed.</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Local donors who make significant reviews are rewarded.</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Gamification promotes involvement.</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Companies can improve trust by responding to reviews.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Opportunity </a:t>
            </a:r>
            <a:endParaRPr lang="en-US" dirty="0"/>
          </a:p>
        </p:txBody>
      </p:sp>
      <p:graphicFrame>
        <p:nvGraphicFramePr>
          <p:cNvPr id="2" name="Table 2"/>
          <p:cNvGraphicFramePr>
            <a:graphicFrameLocks noGrp="1"/>
          </p:cNvGraphicFramePr>
          <p:nvPr>
            <p:ph idx="1"/>
          </p:nvPr>
        </p:nvGraphicFramePr>
        <p:xfrm>
          <a:off x="457200" y="1600200"/>
          <a:ext cx="8229600" cy="3314207"/>
        </p:xfrm>
        <a:graphic>
          <a:graphicData uri="http://schemas.openxmlformats.org/drawingml/2006/table">
            <a:tbl>
              <a:tblPr firstRow="1" bandRow="1">
                <a:tableStyleId>{5C22544A-7EE6-4342-B048-85BDC9FD1C3A}</a:tableStyleId>
              </a:tblPr>
              <a:tblGrid>
                <a:gridCol w="1447800"/>
                <a:gridCol w="6781800"/>
              </a:tblGrid>
              <a:tr h="708025">
                <a:tc>
                  <a:txBody>
                    <a:bodyPr/>
                    <a:lstStyle/>
                    <a:p>
                      <a:pPr algn="just"/>
                      <a:r>
                        <a:rPr lang="en-US" b="1" dirty="0">
                          <a:solidFill>
                            <a:schemeClr val="tx1"/>
                          </a:solidFill>
                        </a:rPr>
                        <a:t>The Problem</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 indent="0" algn="just">
                        <a:lnSpc>
                          <a:spcPct val="150000"/>
                        </a:lnSpc>
                        <a:spcBef>
                          <a:spcPct val="0"/>
                        </a:spcBef>
                        <a:spcAft>
                          <a:spcPts val="800"/>
                        </a:spcAft>
                      </a:pPr>
                      <a:r>
                        <a:rPr lang="en-US" altLang="en-US" sz="1700" b="0">
                          <a:solidFill>
                            <a:schemeClr val="tx1"/>
                          </a:solidFill>
                          <a:latin typeface="Calibri" panose="020F0502020204030204" pitchFamily="34" charset="0"/>
                          <a:ea typeface="Calibri" panose="020F0502020204030204"/>
                          <a:cs typeface="Calibri" panose="020F0502020204030204" pitchFamily="34" charset="0"/>
                        </a:rPr>
                        <a:t>Many restaurants, hotels, and nearby attractions don't have the digital presence or resources necessary to advertise sales, reply to reviews, or track consumer interaction.</a:t>
                      </a:r>
                      <a:endParaRPr lang="en-US" altLang="en-US" sz="1700" b="0">
                        <a:solidFill>
                          <a:schemeClr val="tx1"/>
                        </a:solidFill>
                        <a:latin typeface="Calibri" panose="020F0502020204030204" pitchFamily="34" charset="0"/>
                        <a:ea typeface="Calibri" panose="020F0502020204030204"/>
                        <a:cs typeface="Calibri" panose="020F0502020204030204" pitchFamily="34" charset="0"/>
                      </a:endParaRPr>
                    </a:p>
                  </a:txBody>
                  <a:tcPr marL="68580" marR="68580" marT="0" marB="0" anchor="t"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88698">
                <a:tc>
                  <a:txBody>
                    <a:bodyPr/>
                    <a:lstStyle/>
                    <a:p>
                      <a:pPr algn="just"/>
                      <a:r>
                        <a:rPr lang="en-US" b="1"/>
                        <a:t>Affects</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700" dirty="0"/>
                        <a:t>Business Owners.</a:t>
                      </a:r>
                      <a:endParaRPr lang="en-US" sz="170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06427">
                <a:tc>
                  <a:txBody>
                    <a:bodyPr/>
                    <a:lstStyle/>
                    <a:p>
                      <a:pPr algn="just"/>
                      <a:r>
                        <a:rPr lang="en-US" b="1"/>
                        <a:t>The result of</a:t>
                      </a:r>
                      <a:endParaRPr lang="en-US" b="1"/>
                    </a:p>
                    <a:p>
                      <a:pPr algn="just"/>
                      <a:r>
                        <a:rPr lang="en-US" b="1"/>
                        <a:t>which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lvl="0" indent="-171450">
                        <a:buFont typeface="Arial" panose="020B0604020202020204" pitchFamily="34" charset="0"/>
                        <a:buChar char="•"/>
                      </a:pPr>
                      <a:r>
                        <a:rPr lang="en-US" altLang="en-US" sz="1700" dirty="0">
                          <a:sym typeface="+mn-ea"/>
                        </a:rPr>
                        <a:t>Inaccurate reviews cause tourists to make bad choices.</a:t>
                      </a:r>
                      <a:endParaRPr lang="en-US" altLang="en-US" sz="1700" dirty="0"/>
                    </a:p>
                    <a:p>
                      <a:pPr marL="171450" lvl="0" indent="-171450">
                        <a:buFont typeface="Arial" panose="020B0604020202020204" pitchFamily="34" charset="0"/>
                        <a:buChar char="•"/>
                      </a:pPr>
                      <a:r>
                        <a:rPr lang="en-US" altLang="en-US" sz="1700" dirty="0"/>
                        <a:t>Businesses rely solely on walk-in clients.</a:t>
                      </a:r>
                      <a:endParaRPr lang="en-US" altLang="en-US" sz="1700" dirty="0"/>
                    </a:p>
                    <a:p>
                      <a:pPr marL="171450" lvl="0" indent="-171450">
                        <a:buFont typeface="Arial" panose="020B0604020202020204" pitchFamily="34" charset="0"/>
                        <a:buChar char="•"/>
                      </a:pPr>
                      <a:r>
                        <a:rPr lang="en-US" altLang="en-US" sz="1700" dirty="0"/>
                        <a:t>There are no tools to advertise sales to specific audiences.</a:t>
                      </a:r>
                      <a:endParaRPr lang="en-US" altLang="en-US" sz="1700" dirty="0"/>
                    </a:p>
                    <a:p>
                      <a:pPr marL="171450" lvl="0" indent="-171450">
                        <a:buFont typeface="Arial" panose="020B0604020202020204" pitchFamily="34" charset="0"/>
                        <a:buChar char="•"/>
                      </a:pPr>
                      <a:r>
                        <a:rPr lang="en-US" altLang="en-US" sz="1700" dirty="0"/>
                        <a:t>No analytics to identify patterns or visitor behaviour.</a:t>
                      </a:r>
                      <a:endParaRPr lang="en-US" altLang="en-US" sz="1700" dirty="0"/>
                    </a:p>
                    <a:p>
                      <a:pPr marL="171450" lvl="0" indent="-171450">
                        <a:buFont typeface="Arial" panose="020B0604020202020204" pitchFamily="34" charset="0"/>
                        <a:buChar char="•"/>
                      </a:pPr>
                      <a:r>
                        <a:rPr lang="en-US" altLang="en-US" sz="1700" dirty="0"/>
                        <a:t>Insufficient customer communication.</a:t>
                      </a:r>
                      <a:endParaRPr lang="en-US" alt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19337">
                <a:tc>
                  <a:txBody>
                    <a:bodyPr/>
                    <a:lstStyle/>
                    <a:p>
                      <a:pPr algn="just"/>
                      <a:r>
                        <a:rPr lang="en-US" b="1"/>
                        <a:t>Benefits of</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A specific business dashboard for managing profiles.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The capacity to post sponsored listings, deals, and advertisements.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Perceptive data derived from user visits and review patterns.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p>
                      <a:pPr marL="285750" lvl="0" indent="-285750">
                        <a:buFont typeface="Arial" panose="020B0604020202020204" pitchFamily="34" charset="0"/>
                        <a:buChar char="•"/>
                      </a:pPr>
                      <a:r>
                        <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rPr>
                        <a:t>Increased visibility and interaction with visitors.</a:t>
                      </a:r>
                      <a:endParaRPr lang="en-US" altLang="en-US" sz="1700" kern="100" dirty="0">
                        <a:solidFill>
                          <a:schemeClr val="tx1"/>
                        </a:solidFill>
                        <a:latin typeface="Calibri" panose="020F0502020204030204" pitchFamily="34" charset="0"/>
                        <a:ea typeface="Calibri" panose="020F050202020403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dirty="0"/>
              <a:t>Stakeholders </a:t>
            </a:r>
            <a:endParaRPr lang="en-US" dirty="0"/>
          </a:p>
        </p:txBody>
      </p:sp>
      <p:sp>
        <p:nvSpPr>
          <p:cNvPr id="3" name="Content Placeholder 2"/>
          <p:cNvSpPr/>
          <p:nvPr>
            <p:ph idx="1"/>
          </p:nvPr>
        </p:nvSpPr>
        <p:spPr>
          <a:xfrm>
            <a:off x="457200" y="1600200"/>
            <a:ext cx="8229600" cy="1953260"/>
          </a:xfrm>
        </p:spPr>
        <p:txBody>
          <a:bodyPr/>
          <a:p>
            <a:pPr marL="514350" indent="-514350">
              <a:buFont typeface="+mj-lt"/>
              <a:buAutoNum type="arabicPeriod"/>
            </a:pPr>
            <a:r>
              <a:rPr lang="en-US" sz="2800"/>
              <a:t>Tourists.</a:t>
            </a:r>
            <a:endParaRPr lang="en-US" sz="2800"/>
          </a:p>
          <a:p>
            <a:pPr marL="514350" indent="-514350">
              <a:buFont typeface="+mj-lt"/>
              <a:buAutoNum type="arabicPeriod"/>
            </a:pPr>
            <a:r>
              <a:rPr lang="en-US" sz="2800"/>
              <a:t>Business Owners.</a:t>
            </a:r>
            <a:endParaRPr lang="en-US" sz="2800"/>
          </a:p>
          <a:p>
            <a:pPr marL="514350" indent="-514350">
              <a:buFont typeface="+mj-lt"/>
              <a:buAutoNum type="arabicPeriod"/>
            </a:pPr>
            <a:r>
              <a:rPr lang="en-US" sz="2800"/>
              <a:t>Admin.</a:t>
            </a:r>
            <a:endParaRPr 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US" dirty="0"/>
          </a:p>
        </p:txBody>
      </p:sp>
      <p:sp>
        <p:nvSpPr>
          <p:cNvPr id="3" name="Content Placeholder 2"/>
          <p:cNvSpPr>
            <a:spLocks noGrp="1"/>
          </p:cNvSpPr>
          <p:nvPr>
            <p:ph idx="1"/>
          </p:nvPr>
        </p:nvSpPr>
        <p:spPr>
          <a:xfrm>
            <a:off x="457200" y="1371600"/>
            <a:ext cx="8229600" cy="4411980"/>
          </a:xfrm>
        </p:spPr>
        <p:txBody>
          <a:bodyPr/>
          <a:lstStyle/>
          <a:p>
            <a:pPr marL="0" indent="0">
              <a:buNone/>
            </a:pPr>
            <a:r>
              <a:rPr lang="en-US" altLang="en-US" sz="1800"/>
              <a:t>1. Smart Trip &amp; Budget Management:</a:t>
            </a:r>
            <a:endParaRPr lang="en-US" altLang="en-US" sz="1800"/>
          </a:p>
          <a:p>
            <a:pPr marL="0" indent="0">
              <a:buNone/>
            </a:pPr>
            <a:r>
              <a:rPr lang="en-US" altLang="en-US" sz="1700" b="1"/>
              <a:t>Personalized Budgeting:</a:t>
            </a:r>
            <a:r>
              <a:rPr lang="en-US" altLang="en-US" sz="1700"/>
              <a:t> A dynamic engine that intelligently allocates spending for lodging, travel, and food based on the user's total budget.</a:t>
            </a:r>
            <a:endParaRPr lang="en-US" altLang="en-US" sz="1700"/>
          </a:p>
          <a:p>
            <a:pPr marL="0" indent="0">
              <a:buNone/>
            </a:pPr>
            <a:r>
              <a:rPr lang="en-US" altLang="en-US" sz="1700" b="1"/>
              <a:t>Integrated Maps:</a:t>
            </a:r>
            <a:r>
              <a:rPr lang="en-US" altLang="en-US" sz="1700"/>
              <a:t> Real-time navigation combined with cost estimation for travel distances.</a:t>
            </a:r>
            <a:endParaRPr lang="en-US" altLang="en-US" sz="1700"/>
          </a:p>
          <a:p>
            <a:pPr marL="0" indent="0">
              <a:buNone/>
            </a:pPr>
            <a:r>
              <a:rPr lang="en-US" altLang="en-US" sz="1800"/>
              <a:t>2. Discovery &amp; Community:</a:t>
            </a:r>
            <a:endParaRPr lang="en-US" altLang="en-US" sz="1800"/>
          </a:p>
          <a:p>
            <a:pPr marL="0" indent="0">
              <a:buNone/>
            </a:pPr>
            <a:r>
              <a:rPr lang="en-US" altLang="en-US" sz="1700" b="1"/>
              <a:t>Intelligent Recommendations:</a:t>
            </a:r>
            <a:r>
              <a:rPr lang="en-US" altLang="en-US" sz="1700"/>
              <a:t> Suggests authentic local spots and hidden gems based on real-time trends and user budgets.</a:t>
            </a:r>
            <a:endParaRPr lang="en-US" altLang="en-US" sz="1700"/>
          </a:p>
          <a:p>
            <a:pPr marL="0" indent="0">
              <a:buNone/>
            </a:pPr>
            <a:r>
              <a:rPr lang="en-US" altLang="en-US" sz="1700" b="1"/>
              <a:t>Community-Driven Reviews:</a:t>
            </a:r>
            <a:r>
              <a:rPr lang="en-US" altLang="en-US" sz="1700"/>
              <a:t> A contributor ecosystem where users share verified reviews and photos to earn rewards (Gamification).</a:t>
            </a:r>
            <a:endParaRPr lang="en-US" altLang="en-US" sz="1700"/>
          </a:p>
          <a:p>
            <a:pPr marL="0" indent="0">
              <a:buNone/>
            </a:pPr>
            <a:r>
              <a:rPr lang="en-US" altLang="en-US" sz="1800"/>
              <a:t>3. Business Ecosystem:</a:t>
            </a:r>
            <a:endParaRPr lang="en-US" altLang="en-US" sz="1800"/>
          </a:p>
          <a:p>
            <a:pPr marL="0" indent="0">
              <a:buNone/>
            </a:pPr>
            <a:r>
              <a:rPr lang="en-US" altLang="en-US" sz="1700" b="1"/>
              <a:t>Business Dashboard:</a:t>
            </a:r>
            <a:r>
              <a:rPr lang="en-US" altLang="en-US" sz="1700"/>
              <a:t> A dedicated web portal for vendors to manage profiles, analyze customer traffic, and post real-time deals.</a:t>
            </a:r>
            <a:endParaRPr lang="en-US" altLang="en-US" sz="1700"/>
          </a:p>
          <a:p>
            <a:pPr marL="0" indent="0">
              <a:buNone/>
            </a:pPr>
            <a:r>
              <a:rPr lang="en-US" altLang="en-US" sz="1700" b="1"/>
              <a:t>Unified Platform:</a:t>
            </a:r>
            <a:r>
              <a:rPr lang="en-US" altLang="en-US" sz="1700"/>
              <a:t> Consolidates fragmented tools (maps, budgeting, reviews) into one seamless application.</a:t>
            </a:r>
            <a:endParaRPr lang="en-US" altLang="en-US"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PROGRESS REPORT</a:t>
            </a:r>
            <a:br>
              <a:rPr lang="en-US" dirty="0"/>
            </a:br>
            <a:r>
              <a:rPr lang="en-US" dirty="0"/>
              <a:t>Summary</a:t>
            </a:r>
            <a:endParaRPr lang="en-US" dirty="0"/>
          </a:p>
        </p:txBody>
      </p:sp>
      <p:sp>
        <p:nvSpPr>
          <p:cNvPr id="10243" name="Text Placeholder 4"/>
          <p:cNvSpPr>
            <a:spLocks noGrp="1"/>
          </p:cNvSpPr>
          <p:nvPr>
            <p:ph type="body" idx="1"/>
          </p:nvPr>
        </p:nvSpPr>
        <p:spPr/>
        <p:txBody>
          <a:bodyPr rtlCol="0">
            <a:normAutofit/>
          </a:bodyPr>
          <a:lstStyle/>
          <a:p>
            <a:pPr marL="44450" eaLnBrk="1" fontAlgn="auto" hangingPunct="1">
              <a:spcAft>
                <a:spcPts val="0"/>
              </a:spcAft>
              <a:buFont typeface="Arial" panose="020B0604020202020204" pitchFamily="34" charset="0"/>
              <a:buNone/>
              <a:defRPr/>
            </a:pPr>
            <a:r>
              <a:rPr lang="en-US"/>
              <a:t>WanderPlan</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dirty="0"/>
              <a:t>Requirements</a:t>
            </a:r>
            <a:endParaRPr lang="en-US" dirty="0"/>
          </a:p>
        </p:txBody>
      </p:sp>
      <p:sp>
        <p:nvSpPr>
          <p:cNvPr id="3" name="Content Placeholder 2"/>
          <p:cNvSpPr>
            <a:spLocks noGrp="1"/>
          </p:cNvSpPr>
          <p:nvPr>
            <p:ph idx="1"/>
          </p:nvPr>
        </p:nvSpPr>
        <p:spPr>
          <a:xfrm>
            <a:off x="304800" y="1447800"/>
            <a:ext cx="8459470" cy="4526280"/>
          </a:xfrm>
        </p:spPr>
        <p:txBody>
          <a:bodyPr/>
          <a:lstStyle/>
          <a:p>
            <a:r>
              <a:rPr lang="en-US" sz="2800" dirty="0"/>
              <a:t>Elicitation Techniques / Tools</a:t>
            </a:r>
            <a:endParaRPr lang="en-US" sz="2800" dirty="0"/>
          </a:p>
          <a:p>
            <a:pPr marL="971550" lvl="1" indent="-514350">
              <a:buAutoNum type="arabicPeriod"/>
            </a:pPr>
            <a:r>
              <a:rPr lang="en-US" altLang="en-US" sz="2400" b="1" dirty="0"/>
              <a:t>Interviews:</a:t>
            </a:r>
            <a:r>
              <a:rPr lang="en-US" altLang="en-US" sz="2400" dirty="0"/>
              <a:t> Conducted with travelers and business owners to identify pain points like budget management and visibility.</a:t>
            </a:r>
            <a:endParaRPr lang="en-US" altLang="en-US" sz="2400" dirty="0"/>
          </a:p>
          <a:p>
            <a:pPr marL="971550" lvl="1" indent="-514350">
              <a:buAutoNum type="arabicPeriod"/>
            </a:pPr>
            <a:r>
              <a:rPr lang="en-US" altLang="en-US" sz="2400" b="1" dirty="0"/>
              <a:t>Observation:</a:t>
            </a:r>
            <a:r>
              <a:rPr lang="en-US" altLang="en-US" sz="2400" dirty="0"/>
              <a:t> Analyzed how tourists interact with current fragmented platforms.</a:t>
            </a:r>
            <a:endParaRPr lang="en-US" altLang="en-US" sz="2400" dirty="0"/>
          </a:p>
          <a:p>
            <a:pPr marL="971550" lvl="1" indent="-514350">
              <a:buAutoNum type="arabicPeriod"/>
            </a:pPr>
            <a:r>
              <a:rPr lang="en-US" altLang="en-US" sz="2400" b="1" dirty="0"/>
              <a:t>Brainstorming:</a:t>
            </a:r>
            <a:r>
              <a:rPr lang="en-US" altLang="en-US" sz="2400" dirty="0"/>
              <a:t> Team sessions to merge feedback into structured requirements.</a:t>
            </a:r>
            <a:endParaRPr lang="en-US" altLang="en-US" dirty="0"/>
          </a:p>
          <a:p>
            <a:pPr marL="457200" lvl="1" indent="0">
              <a:buNone/>
            </a:pPr>
            <a:endParaRPr lang="en-US" altLang="en-US" dirty="0"/>
          </a:p>
          <a:p>
            <a:pPr lvl="1"/>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dirty="0"/>
              <a:t>Requirements</a:t>
            </a:r>
            <a:endParaRPr lang="en-US" dirty="0"/>
          </a:p>
        </p:txBody>
      </p:sp>
      <p:sp>
        <p:nvSpPr>
          <p:cNvPr id="3" name="Content Placeholder 2"/>
          <p:cNvSpPr>
            <a:spLocks noGrp="1"/>
          </p:cNvSpPr>
          <p:nvPr>
            <p:ph idx="1"/>
          </p:nvPr>
        </p:nvSpPr>
        <p:spPr>
          <a:xfrm>
            <a:off x="304800" y="1066800"/>
            <a:ext cx="8459470" cy="5130165"/>
          </a:xfrm>
        </p:spPr>
        <p:txBody>
          <a:bodyPr/>
          <a:lstStyle/>
          <a:p>
            <a:pPr lvl="1">
              <a:buFont typeface="Arial" panose="020B0604020202020204" pitchFamily="34" charset="0"/>
              <a:buChar char="•"/>
            </a:pPr>
            <a:r>
              <a:rPr lang="en-US" dirty="0"/>
              <a:t>Specification / Documentation</a:t>
            </a:r>
            <a:endParaRPr lang="en-US" dirty="0"/>
          </a:p>
          <a:p>
            <a:pPr marL="457200" lvl="1" indent="0">
              <a:buFont typeface="Arial" panose="020B0604020202020204" pitchFamily="34" charset="0"/>
              <a:buNone/>
            </a:pPr>
            <a:r>
              <a:rPr lang="en-US" altLang="en-US" sz="2400" b="1" dirty="0"/>
              <a:t>1. SRS:</a:t>
            </a:r>
            <a:r>
              <a:rPr lang="en-US" altLang="en-US" sz="2400" dirty="0"/>
              <a:t> Requirements formally documented in the FYP Report using Microsoft Word following SRS (Software Requirements Specification) standards.</a:t>
            </a:r>
            <a:endParaRPr lang="en-US" altLang="en-US" sz="2400" dirty="0"/>
          </a:p>
          <a:p>
            <a:pPr marL="0" indent="0" algn="just">
              <a:lnSpc>
                <a:spcPct val="100000"/>
              </a:lnSpc>
              <a:buNone/>
            </a:pPr>
            <a:r>
              <a:rPr lang="en-US" sz="2400" b="1" dirty="0">
                <a:sym typeface="+mn-ea"/>
              </a:rPr>
              <a:t>      2. </a:t>
            </a:r>
            <a:r>
              <a:rPr lang="en-US" sz="2400" dirty="0">
                <a:sym typeface="+mn-ea"/>
              </a:rPr>
              <a:t>The SRS outlines functional and non-functional</a:t>
            </a:r>
            <a:endParaRPr lang="en-US" sz="2400" dirty="0">
              <a:sym typeface="+mn-ea"/>
            </a:endParaRPr>
          </a:p>
          <a:p>
            <a:pPr marL="0" indent="457200" algn="l">
              <a:lnSpc>
                <a:spcPct val="100000"/>
              </a:lnSpc>
              <a:buNone/>
            </a:pPr>
            <a:r>
              <a:rPr lang="en-US" sz="2400" dirty="0">
                <a:sym typeface="+mn-ea"/>
              </a:rPr>
              <a:t>requirements, ensuring clarity, consistency, and a solid</a:t>
            </a:r>
            <a:endParaRPr lang="en-US" sz="2400" dirty="0">
              <a:sym typeface="+mn-ea"/>
            </a:endParaRPr>
          </a:p>
          <a:p>
            <a:pPr marL="0" indent="457200" algn="l">
              <a:lnSpc>
                <a:spcPct val="100000"/>
              </a:lnSpc>
              <a:buNone/>
            </a:pPr>
            <a:r>
              <a:rPr lang="en-US" sz="2400" dirty="0">
                <a:sym typeface="+mn-ea"/>
              </a:rPr>
              <a:t>foundation for system development.</a:t>
            </a:r>
            <a:endParaRPr lang="en-US" sz="2400" dirty="0"/>
          </a:p>
          <a:p>
            <a:pPr marL="971550" lvl="1" indent="-514350" algn="just">
              <a:buFont typeface="+mj-lt"/>
              <a:buAutoNum type="arabicPeriod"/>
            </a:pPr>
            <a:r>
              <a:rPr lang="en-US" sz="2400" dirty="0">
                <a:sym typeface="+mn-ea"/>
              </a:rPr>
              <a:t>Introduction 				5. Implementation</a:t>
            </a:r>
            <a:endParaRPr lang="en-US" sz="2400" dirty="0"/>
          </a:p>
          <a:p>
            <a:pPr marL="971550" lvl="1" indent="-514350" algn="just">
              <a:buFont typeface="+mj-lt"/>
              <a:buAutoNum type="arabicPeriod"/>
            </a:pPr>
            <a:r>
              <a:rPr lang="en-US" sz="2400" dirty="0">
                <a:sym typeface="+mn-ea"/>
              </a:rPr>
              <a:t>Literature and market survey</a:t>
            </a:r>
            <a:endParaRPr lang="en-US" sz="2400" dirty="0"/>
          </a:p>
          <a:p>
            <a:pPr marL="971550" lvl="1" indent="-514350" algn="just">
              <a:buFont typeface="+mj-lt"/>
              <a:buAutoNum type="arabicPeriod"/>
            </a:pPr>
            <a:r>
              <a:rPr lang="en-US" sz="2400" dirty="0">
                <a:sym typeface="+mn-ea"/>
              </a:rPr>
              <a:t>Requirement</a:t>
            </a:r>
            <a:endParaRPr lang="en-US" sz="2400" dirty="0"/>
          </a:p>
          <a:p>
            <a:pPr marL="971550" lvl="1" indent="-514350" algn="just">
              <a:buFont typeface="+mj-lt"/>
              <a:buAutoNum type="arabicPeriod"/>
            </a:pPr>
            <a:r>
              <a:rPr lang="en-US" sz="2400" dirty="0">
                <a:sym typeface="+mn-ea"/>
              </a:rPr>
              <a:t>System Design</a:t>
            </a:r>
            <a:endParaRPr lang="en-US" sz="2400" dirty="0"/>
          </a:p>
          <a:p>
            <a:pPr marL="457200" lvl="1" indent="0" algn="just">
              <a:buFont typeface="+mj-lt"/>
              <a:buNone/>
            </a:pPr>
            <a:endParaRPr lang="en-US" sz="2400" dirty="0"/>
          </a:p>
          <a:p>
            <a:pPr marL="457200" lvl="1" indent="0">
              <a:buNone/>
            </a:pPr>
            <a:endParaRPr lang="en-US" altLang="en-US" dirty="0"/>
          </a:p>
          <a:p>
            <a:pPr marL="457200" lvl="1"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dirty="0"/>
              <a:t>Requirements</a:t>
            </a:r>
            <a:endParaRPr lang="en-US" dirty="0"/>
          </a:p>
        </p:txBody>
      </p:sp>
      <p:sp>
        <p:nvSpPr>
          <p:cNvPr id="3" name="Content Placeholder 2"/>
          <p:cNvSpPr>
            <a:spLocks noGrp="1"/>
          </p:cNvSpPr>
          <p:nvPr>
            <p:ph idx="1"/>
          </p:nvPr>
        </p:nvSpPr>
        <p:spPr>
          <a:xfrm>
            <a:off x="304800" y="1066800"/>
            <a:ext cx="8459470" cy="5130165"/>
          </a:xfrm>
        </p:spPr>
        <p:txBody>
          <a:bodyPr/>
          <a:lstStyle/>
          <a:p>
            <a:pPr lvl="1" algn="just">
              <a:buFont typeface="Arial" panose="020B0604020202020204" pitchFamily="34" charset="0"/>
              <a:buChar char="•"/>
            </a:pPr>
            <a:r>
              <a:rPr lang="en-US" dirty="0"/>
              <a:t>Users:</a:t>
            </a:r>
            <a:endParaRPr lang="en-US" dirty="0"/>
          </a:p>
          <a:p>
            <a:pPr marL="971550" lvl="1" indent="-514350" algn="just">
              <a:buFont typeface="Arial" panose="020B0604020202020204" pitchFamily="34" charset="0"/>
              <a:buAutoNum type="arabicPeriod"/>
            </a:pPr>
            <a:r>
              <a:rPr lang="en-US" dirty="0"/>
              <a:t>Tourists.</a:t>
            </a:r>
            <a:endParaRPr lang="en-US" dirty="0"/>
          </a:p>
          <a:p>
            <a:pPr marL="971550" lvl="1" indent="-514350" algn="just">
              <a:buFont typeface="Arial" panose="020B0604020202020204" pitchFamily="34" charset="0"/>
              <a:buAutoNum type="arabicPeriod"/>
            </a:pPr>
            <a:r>
              <a:rPr lang="en-US" dirty="0"/>
              <a:t>Business Owners.</a:t>
            </a:r>
            <a:endParaRPr lang="en-US" dirty="0"/>
          </a:p>
          <a:p>
            <a:pPr marL="971550" lvl="1" indent="-514350" algn="just">
              <a:buFont typeface="Arial" panose="020B0604020202020204" pitchFamily="34" charset="0"/>
              <a:buAutoNum type="arabicPeriod"/>
            </a:pPr>
            <a:r>
              <a:rPr lang="en-US" dirty="0"/>
              <a:t>Admin.</a:t>
            </a:r>
            <a:endParaRPr lang="en-US" dirty="0"/>
          </a:p>
          <a:p>
            <a:pPr marL="457200" lvl="1" indent="0" algn="just">
              <a:buFont typeface="Arial" panose="020B0604020202020204" pitchFamily="34" charset="0"/>
              <a:buNone/>
            </a:pPr>
            <a:endParaRPr lang="en-US" dirty="0"/>
          </a:p>
          <a:p>
            <a:pPr lvl="1" algn="just">
              <a:buFont typeface="Arial" panose="020B0604020202020204" pitchFamily="34" charset="0"/>
              <a:buChar char="•"/>
            </a:pPr>
            <a:r>
              <a:rPr lang="en-US" dirty="0"/>
              <a:t>Use Cases:</a:t>
            </a:r>
            <a:endParaRPr lang="en-US" dirty="0"/>
          </a:p>
          <a:p>
            <a:pPr marL="457200" lvl="1" indent="0" algn="just">
              <a:buFont typeface="Arial" panose="020B0604020202020204" pitchFamily="34" charset="0"/>
              <a:buNone/>
            </a:pPr>
            <a:r>
              <a:rPr lang="en-US" sz="2400" dirty="0"/>
              <a:t>Our system consists of a total of </a:t>
            </a:r>
            <a:r>
              <a:rPr lang="en-US" sz="2400" b="1" dirty="0"/>
              <a:t>40 use cases</a:t>
            </a:r>
            <a:r>
              <a:rPr lang="en-US" sz="2400" dirty="0"/>
              <a:t>, core use cases are </a:t>
            </a:r>
            <a:r>
              <a:rPr lang="en-US" altLang="en-US" sz="2400" dirty="0"/>
              <a:t>Create Trip, Input Budget, Generate Plan, Register Business, Moderate Reviews.</a:t>
            </a:r>
            <a:endParaRPr lang="en-US" altLang="en-US" sz="2400" dirty="0"/>
          </a:p>
          <a:p>
            <a:pPr marL="457200" lvl="1" indent="0">
              <a:buNone/>
            </a:pPr>
            <a:endParaRPr lang="en-US" altLang="en-US" dirty="0"/>
          </a:p>
          <a:p>
            <a:pPr marL="457200" lvl="1" indent="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dirty="0"/>
              <a:t>Requirements</a:t>
            </a:r>
            <a:endParaRPr lang="en-US" dirty="0"/>
          </a:p>
        </p:txBody>
      </p:sp>
      <p:sp>
        <p:nvSpPr>
          <p:cNvPr id="3" name="Content Placeholder 2"/>
          <p:cNvSpPr>
            <a:spLocks noGrp="1"/>
          </p:cNvSpPr>
          <p:nvPr>
            <p:ph idx="1"/>
          </p:nvPr>
        </p:nvSpPr>
        <p:spPr>
          <a:xfrm>
            <a:off x="304800" y="1371600"/>
            <a:ext cx="8459470" cy="5130165"/>
          </a:xfrm>
        </p:spPr>
        <p:txBody>
          <a:bodyPr/>
          <a:lstStyle/>
          <a:p>
            <a:pPr lvl="1" algn="just">
              <a:buFont typeface="Arial" panose="020B0604020202020204" pitchFamily="34" charset="0"/>
              <a:buChar char="•"/>
            </a:pPr>
            <a:r>
              <a:rPr lang="en-US" dirty="0"/>
              <a:t>Functional Requirements:</a:t>
            </a:r>
            <a:endParaRPr lang="en-US" dirty="0"/>
          </a:p>
          <a:p>
            <a:pPr marL="457200" lvl="1" indent="0" algn="just">
              <a:buFont typeface="Arial" panose="020B0604020202020204" pitchFamily="34" charset="0"/>
              <a:buNone/>
            </a:pPr>
            <a:endParaRPr lang="en-US" dirty="0"/>
          </a:p>
          <a:p>
            <a:pPr marL="457200" lvl="1" indent="0" algn="just">
              <a:buFont typeface="Arial" panose="020B0604020202020204" pitchFamily="34" charset="0"/>
              <a:buNone/>
            </a:pPr>
            <a:r>
              <a:rPr lang="en-US" sz="2400" dirty="0"/>
              <a:t>The system includes </a:t>
            </a:r>
            <a:r>
              <a:rPr lang="en-US" sz="2400" b="1" dirty="0"/>
              <a:t>64</a:t>
            </a:r>
            <a:r>
              <a:rPr lang="en-US" sz="2400" b="1" dirty="0"/>
              <a:t> functional requirements</a:t>
            </a:r>
            <a:r>
              <a:rPr lang="en-US" sz="2400" dirty="0"/>
              <a:t>, major requirements are </a:t>
            </a:r>
            <a:r>
              <a:rPr lang="en-US" altLang="en-US" sz="2400" dirty="0"/>
              <a:t>of Dashboard, Trip &amp; Budget Management, Recommendations, Maps, Reviews, Registration, Deals Management, Analytics Dashboard, Business Verification, Content Moderation, System Analytics.</a:t>
            </a:r>
            <a:endParaRPr lang="en-US" altLang="en-US" sz="2400" dirty="0"/>
          </a:p>
          <a:p>
            <a:pPr marL="457200" lvl="1" indent="0">
              <a:buNone/>
            </a:pPr>
            <a:endParaRPr lang="en-US" altLang="en-US" dirty="0"/>
          </a:p>
          <a:p>
            <a:pPr marL="457200" lvl="1" indent="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dirty="0"/>
              <a:t>Requirements</a:t>
            </a:r>
            <a:endParaRPr lang="en-US" dirty="0"/>
          </a:p>
        </p:txBody>
      </p:sp>
      <p:sp>
        <p:nvSpPr>
          <p:cNvPr id="3" name="Content Placeholder 2"/>
          <p:cNvSpPr>
            <a:spLocks noGrp="1"/>
          </p:cNvSpPr>
          <p:nvPr>
            <p:ph idx="1"/>
          </p:nvPr>
        </p:nvSpPr>
        <p:spPr>
          <a:xfrm>
            <a:off x="304800" y="1371600"/>
            <a:ext cx="8459470" cy="5130165"/>
          </a:xfrm>
        </p:spPr>
        <p:txBody>
          <a:bodyPr/>
          <a:lstStyle/>
          <a:p>
            <a:pPr lvl="1" algn="just">
              <a:buFont typeface="Arial" panose="020B0604020202020204" pitchFamily="34" charset="0"/>
              <a:buChar char="•"/>
            </a:pPr>
            <a:r>
              <a:rPr lang="en-US" dirty="0"/>
              <a:t>Non-Functional Requirements:</a:t>
            </a:r>
            <a:endParaRPr lang="en-US" dirty="0"/>
          </a:p>
          <a:p>
            <a:pPr marL="457200" lvl="1" indent="0" algn="just">
              <a:buFont typeface="Arial" panose="020B0604020202020204" pitchFamily="34" charset="0"/>
              <a:buNone/>
            </a:pPr>
            <a:endParaRPr lang="en-US" dirty="0"/>
          </a:p>
          <a:p>
            <a:pPr marL="457200" lvl="1" indent="0" algn="just">
              <a:buFont typeface="Arial" panose="020B0604020202020204" pitchFamily="34" charset="0"/>
              <a:buNone/>
            </a:pPr>
            <a:r>
              <a:rPr lang="en-US" altLang="en-US" sz="2400" dirty="0"/>
              <a:t>The system specifies a set of non-functional requirements that would ensure its quality and reliability in the end. Among these requirements are </a:t>
            </a:r>
            <a:r>
              <a:rPr lang="en-US" altLang="en-US" sz="2400" b="1" dirty="0"/>
              <a:t>Performance</a:t>
            </a:r>
            <a:r>
              <a:rPr lang="en-US" altLang="en-US" sz="2400" dirty="0"/>
              <a:t>, which is concerned with fast loading of pages, quick API responses, and instant recommendation results, </a:t>
            </a:r>
            <a:r>
              <a:rPr lang="en-US" altLang="en-US" sz="2400" b="1" dirty="0"/>
              <a:t>Reliability</a:t>
            </a:r>
            <a:r>
              <a:rPr lang="en-US" altLang="en-US" sz="2400" dirty="0"/>
              <a:t>, which guarantees high system availability and very low downtime.</a:t>
            </a:r>
            <a:endParaRPr lang="en-US"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a:t>
            </a:r>
            <a:endParaRPr lang="en-US" dirty="0"/>
          </a:p>
        </p:txBody>
      </p:sp>
      <p:sp>
        <p:nvSpPr>
          <p:cNvPr id="3" name="Content Placeholder 2"/>
          <p:cNvSpPr>
            <a:spLocks noGrp="1"/>
          </p:cNvSpPr>
          <p:nvPr>
            <p:ph idx="1"/>
          </p:nvPr>
        </p:nvSpPr>
        <p:spPr/>
        <p:txBody>
          <a:bodyPr/>
          <a:lstStyle/>
          <a:p>
            <a:r>
              <a:rPr lang="en-US" sz="2800" b="1" dirty="0"/>
              <a:t>Deployment Architecture</a:t>
            </a:r>
            <a:endParaRPr lang="en-US" sz="2800" b="1" dirty="0"/>
          </a:p>
          <a:p>
            <a:pPr marL="0" indent="457200">
              <a:buNone/>
            </a:pPr>
            <a:r>
              <a:rPr lang="en-US" sz="2400" dirty="0"/>
              <a:t>Client (Web Browser - Business/Admin, Mobile Application-                             	Tourist).</a:t>
            </a:r>
            <a:endParaRPr lang="en-US" sz="2400" dirty="0"/>
          </a:p>
          <a:p>
            <a:pPr marL="0" indent="457200">
              <a:buNone/>
            </a:pPr>
            <a:r>
              <a:rPr lang="en-US" sz="2400" dirty="0"/>
              <a:t>Application Server (Node.js / Express REST API).</a:t>
            </a:r>
            <a:endParaRPr lang="en-US" sz="2400" dirty="0"/>
          </a:p>
          <a:p>
            <a:pPr marL="0" indent="457200">
              <a:buNone/>
            </a:pPr>
            <a:r>
              <a:rPr lang="en-US" sz="2400" dirty="0"/>
              <a:t>Database Server (Mongo DB).</a:t>
            </a:r>
            <a:endParaRPr lang="en-US" sz="2400" dirty="0"/>
          </a:p>
          <a:p>
            <a:r>
              <a:rPr lang="en-US" sz="2800" b="1" dirty="0"/>
              <a:t>UML Diagrams Used</a:t>
            </a:r>
            <a:endParaRPr lang="en-US" sz="2800" b="1" dirty="0"/>
          </a:p>
          <a:p>
            <a:pPr marL="0" indent="457200">
              <a:buNone/>
            </a:pPr>
            <a:r>
              <a:rPr lang="en-US" sz="2400" dirty="0"/>
              <a:t>Use Case Diagrams.</a:t>
            </a:r>
            <a:endParaRPr lang="en-US" sz="2400" dirty="0"/>
          </a:p>
          <a:p>
            <a:pPr marL="0" indent="457200">
              <a:buNone/>
            </a:pPr>
            <a:r>
              <a:rPr lang="en-US" sz="2400" dirty="0"/>
              <a:t>Activity Diagrams.</a:t>
            </a:r>
            <a:endParaRPr lang="en-US" sz="2400" dirty="0"/>
          </a:p>
          <a:p>
            <a:pPr marL="0" indent="457200">
              <a:buNone/>
            </a:pPr>
            <a:r>
              <a:rPr lang="en-US" sz="2400" dirty="0"/>
              <a:t>Database Schema Design.</a:t>
            </a:r>
            <a:endParaRPr lang="en-US" sz="2400" dirty="0"/>
          </a:p>
          <a:p>
            <a:pPr marL="0" indent="457200">
              <a:buNone/>
            </a:pP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endParaRPr lang="en-US" dirty="0"/>
          </a:p>
        </p:txBody>
      </p:sp>
      <p:sp>
        <p:nvSpPr>
          <p:cNvPr id="3" name="Content Placeholder 2"/>
          <p:cNvSpPr>
            <a:spLocks noGrp="1"/>
          </p:cNvSpPr>
          <p:nvPr>
            <p:ph idx="1"/>
          </p:nvPr>
        </p:nvSpPr>
        <p:spPr>
          <a:xfrm>
            <a:off x="457200" y="1447800"/>
            <a:ext cx="8229600" cy="4525963"/>
          </a:xfrm>
        </p:spPr>
        <p:txBody>
          <a:bodyPr/>
          <a:lstStyle/>
          <a:p>
            <a:r>
              <a:rPr lang="en-US" sz="2800" b="1" dirty="0"/>
              <a:t>Development Tools &amp; Technologies</a:t>
            </a:r>
            <a:endParaRPr lang="en-US" sz="2800" b="1" dirty="0"/>
          </a:p>
          <a:p>
            <a:pPr marL="0" indent="0">
              <a:buNone/>
            </a:pPr>
            <a:r>
              <a:rPr lang="en-US" sz="2400" dirty="0"/>
              <a:t>Frontend: React.js, React Native.</a:t>
            </a:r>
            <a:endParaRPr lang="en-US" sz="2400" dirty="0"/>
          </a:p>
          <a:p>
            <a:pPr marL="0" indent="0">
              <a:buNone/>
            </a:pPr>
            <a:r>
              <a:rPr lang="en-US" sz="2400" dirty="0"/>
              <a:t>Backend: Node.js with Express (RESTful APIs).</a:t>
            </a:r>
            <a:endParaRPr lang="en-US" sz="2400" dirty="0"/>
          </a:p>
          <a:p>
            <a:pPr marL="0" indent="0">
              <a:buNone/>
            </a:pPr>
            <a:r>
              <a:rPr lang="en-US" sz="2400" dirty="0"/>
              <a:t>Database: MongoDB.</a:t>
            </a:r>
            <a:endParaRPr lang="en-US" sz="2400" dirty="0"/>
          </a:p>
          <a:p>
            <a:r>
              <a:rPr lang="en-US" sz="2800" b="1" dirty="0"/>
              <a:t>Best Practices / Coding Standards</a:t>
            </a:r>
            <a:endParaRPr lang="en-US" sz="2800" b="1" dirty="0"/>
          </a:p>
          <a:p>
            <a:pPr marL="0" indent="0">
              <a:lnSpc>
                <a:spcPct val="150000"/>
              </a:lnSpc>
              <a:buNone/>
            </a:pPr>
            <a:r>
              <a:rPr lang="en-US" altLang="en-GB" sz="2400" dirty="0">
                <a:sym typeface="+mn-ea"/>
              </a:rPr>
              <a:t>Modular code structure for maintainability.</a:t>
            </a:r>
            <a:endParaRPr lang="en-US" altLang="en-GB" sz="2400" dirty="0"/>
          </a:p>
          <a:p>
            <a:pPr marL="0" indent="0">
              <a:lnSpc>
                <a:spcPct val="150000"/>
              </a:lnSpc>
              <a:buNone/>
            </a:pPr>
            <a:r>
              <a:rPr lang="en-US" altLang="en-GB" sz="2400" dirty="0">
                <a:sym typeface="+mn-ea"/>
              </a:rPr>
              <a:t>MVC-based architecture on the server side.</a:t>
            </a:r>
            <a:endParaRPr lang="en-US" altLang="en-GB" sz="2400" dirty="0"/>
          </a:p>
          <a:p>
            <a:pPr marL="0" indent="0">
              <a:lnSpc>
                <a:spcPct val="150000"/>
              </a:lnSpc>
              <a:buNone/>
            </a:pPr>
            <a:r>
              <a:rPr lang="en-US" altLang="en-GB" sz="2400" dirty="0">
                <a:sym typeface="+mn-ea"/>
              </a:rPr>
              <a:t>Git for version control and collaborative development.</a:t>
            </a:r>
            <a:endParaRPr lang="en-US" altLang="en-GB" sz="2400" dirty="0"/>
          </a:p>
          <a:p>
            <a:pPr marL="0" indent="0">
              <a:buNone/>
            </a:pPr>
            <a:endParaRPr lang="en-US" dirty="0"/>
          </a:p>
          <a:p>
            <a:pPr marL="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en-US" dirty="0"/>
          </a:p>
        </p:txBody>
      </p:sp>
      <p:sp>
        <p:nvSpPr>
          <p:cNvPr id="3" name="Content Placeholder 2"/>
          <p:cNvSpPr>
            <a:spLocks noGrp="1"/>
          </p:cNvSpPr>
          <p:nvPr>
            <p:ph idx="1"/>
          </p:nvPr>
        </p:nvSpPr>
        <p:spPr>
          <a:xfrm>
            <a:off x="457200" y="1600200"/>
            <a:ext cx="8229600" cy="2806065"/>
          </a:xfrm>
        </p:spPr>
        <p:txBody>
          <a:bodyPr/>
          <a:lstStyle/>
          <a:p>
            <a:pPr algn="just"/>
            <a:r>
              <a:rPr lang="en-US" altLang="en-US" sz="2000" dirty="0"/>
              <a:t>For system validation, we used a Black Box Testing approach, which depended entirely on functional requirements and did not take into account the inner workings of the system. To perform the verification of the system, we created structured test cases that embraced both normal and alternative flows, employing Equivalence Class Partitioning (ECP) for managing both valid and invalid inputs. </a:t>
            </a:r>
            <a:endParaRPr lang="en-US" altLang="en-US" sz="2000" dirty="0"/>
          </a:p>
          <a:p>
            <a:pPr algn="just"/>
            <a:r>
              <a:rPr lang="en-US" altLang="en-US" sz="2000" dirty="0"/>
              <a:t>The testing gave us the confidence that the system would always respond consistently and act rightly at the tested condition.</a:t>
            </a:r>
            <a:endParaRPr lang="en-US" alt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en-US" dirty="0"/>
          </a:p>
        </p:txBody>
      </p:sp>
      <p:sp>
        <p:nvSpPr>
          <p:cNvPr id="3" name="Content Placeholder 2"/>
          <p:cNvSpPr>
            <a:spLocks noGrp="1"/>
          </p:cNvSpPr>
          <p:nvPr>
            <p:ph idx="1"/>
          </p:nvPr>
        </p:nvSpPr>
        <p:spPr>
          <a:xfrm>
            <a:off x="457200" y="1371600"/>
            <a:ext cx="5170805" cy="464185"/>
          </a:xfrm>
        </p:spPr>
        <p:txBody>
          <a:bodyPr/>
          <a:lstStyle/>
          <a:p>
            <a:pPr algn="just"/>
            <a:r>
              <a:rPr lang="en-US" altLang="en-US" sz="2000" b="1" dirty="0"/>
              <a:t>User Sign In (Black Box Testing)</a:t>
            </a:r>
            <a:endParaRPr lang="en-US" altLang="en-US" sz="2000" b="1" dirty="0"/>
          </a:p>
          <a:p>
            <a:pPr algn="just"/>
            <a:endParaRPr lang="en-US" altLang="en-US" sz="2000" dirty="0"/>
          </a:p>
          <a:p>
            <a:pPr marL="0" indent="0" algn="just">
              <a:buNone/>
            </a:pPr>
            <a:endParaRPr lang="en-US" altLang="en-US" sz="2000" dirty="0"/>
          </a:p>
        </p:txBody>
      </p:sp>
      <p:graphicFrame>
        <p:nvGraphicFramePr>
          <p:cNvPr id="4" name="Table 3"/>
          <p:cNvGraphicFramePr>
            <a:graphicFrameLocks noGrp="1"/>
          </p:cNvGraphicFramePr>
          <p:nvPr/>
        </p:nvGraphicFramePr>
        <p:xfrm>
          <a:off x="838200" y="1981200"/>
          <a:ext cx="7086599" cy="3581400"/>
        </p:xfrm>
        <a:graphic>
          <a:graphicData uri="http://schemas.openxmlformats.org/drawingml/2006/table">
            <a:tbl>
              <a:tblPr firstRow="1" firstCol="1" bandRow="1">
                <a:tableStyleId>{3B4B98B0-60AC-42C2-AFA5-B58CD77FA1E5}</a:tableStyleId>
              </a:tblPr>
              <a:tblGrid>
                <a:gridCol w="1333809"/>
                <a:gridCol w="5752790"/>
              </a:tblGrid>
              <a:tr h="561450">
                <a:tc>
                  <a:txBody>
                    <a:bodyPr/>
                    <a:lstStyle/>
                    <a:p>
                      <a:pPr marL="0" marR="0" algn="just">
                        <a:lnSpc>
                          <a:spcPts val="1360"/>
                        </a:lnSpc>
                        <a:buNone/>
                      </a:pPr>
                      <a:r>
                        <a:rPr lang="en-US" sz="1400">
                          <a:effectLst/>
                        </a:rPr>
                        <a:t>Scenario</a:t>
                      </a:r>
                      <a:endParaRPr lang="en-US" sz="1400">
                        <a:effectLst/>
                      </a:endParaRPr>
                    </a:p>
                  </a:txBody>
                  <a:tcPr marL="68580" marR="68580" marT="0" marB="0" anchor="ctr"/>
                </a:tc>
                <a:tc>
                  <a:txBody>
                    <a:bodyPr/>
                    <a:lstStyle/>
                    <a:p>
                      <a:pPr marL="0" marR="0" algn="just">
                        <a:lnSpc>
                          <a:spcPts val="1360"/>
                        </a:lnSpc>
                        <a:buNone/>
                      </a:pPr>
                      <a:r>
                        <a:rPr lang="en-US" sz="1400" dirty="0">
                          <a:effectLst/>
                        </a:rPr>
                        <a:t>Flow</a:t>
                      </a:r>
                      <a:endParaRPr lang="en-US" sz="1400" dirty="0">
                        <a:effectLst/>
                      </a:endParaRPr>
                    </a:p>
                  </a:txBody>
                  <a:tcPr marL="68580" marR="68580" marT="0" marB="0" anchor="ctr"/>
                </a:tc>
              </a:tr>
              <a:tr h="625336">
                <a:tc>
                  <a:txBody>
                    <a:bodyPr/>
                    <a:lstStyle/>
                    <a:p>
                      <a:pPr marL="0" marR="0" algn="ctr">
                        <a:lnSpc>
                          <a:spcPts val="1360"/>
                        </a:lnSpc>
                        <a:buNone/>
                      </a:pPr>
                      <a:r>
                        <a:rPr lang="en-US" sz="1200">
                          <a:effectLst/>
                        </a:rPr>
                        <a:t>Scenario 1</a:t>
                      </a:r>
                      <a:endParaRPr lang="en-US" sz="1200">
                        <a:effectLst/>
                      </a:endParaRPr>
                    </a:p>
                  </a:txBody>
                  <a:tcPr marL="68580" marR="68580" marT="0" marB="0" anchor="ctr"/>
                </a:tc>
                <a:tc>
                  <a:txBody>
                    <a:bodyPr/>
                    <a:lstStyle/>
                    <a:p>
                      <a:pPr marL="0" marR="0" algn="l">
                        <a:lnSpc>
                          <a:spcPts val="1360"/>
                        </a:lnSpc>
                        <a:buNone/>
                      </a:pPr>
                      <a:r>
                        <a:rPr lang="en-US" sz="1400" dirty="0">
                          <a:effectLst/>
                        </a:rPr>
                        <a:t>Basic Flow – user Signs In with valid credentials.</a:t>
                      </a:r>
                      <a:endParaRPr lang="en-US" sz="1400" dirty="0">
                        <a:effectLst/>
                      </a:endParaRPr>
                    </a:p>
                  </a:txBody>
                  <a:tcPr marL="68580" marR="68580" marT="0" marB="0" anchor="ctr"/>
                </a:tc>
              </a:tr>
              <a:tr h="595271">
                <a:tc>
                  <a:txBody>
                    <a:bodyPr/>
                    <a:lstStyle/>
                    <a:p>
                      <a:pPr marL="0" marR="0" algn="ctr">
                        <a:lnSpc>
                          <a:spcPts val="1360"/>
                        </a:lnSpc>
                        <a:buNone/>
                      </a:pPr>
                      <a:r>
                        <a:rPr lang="en-US" sz="1200">
                          <a:effectLst/>
                        </a:rPr>
                        <a:t>Scenario 2</a:t>
                      </a:r>
                      <a:endParaRPr lang="en-US" sz="1200">
                        <a:effectLst/>
                      </a:endParaRPr>
                    </a:p>
                  </a:txBody>
                  <a:tcPr marL="68580" marR="68580" marT="0" marB="0" anchor="ctr"/>
                </a:tc>
                <a:tc>
                  <a:txBody>
                    <a:bodyPr/>
                    <a:lstStyle/>
                    <a:p>
                      <a:pPr marL="0" marR="0" algn="l">
                        <a:lnSpc>
                          <a:spcPts val="1360"/>
                        </a:lnSpc>
                        <a:buNone/>
                      </a:pPr>
                      <a:r>
                        <a:rPr lang="en-US" sz="1400" dirty="0">
                          <a:effectLst/>
                        </a:rPr>
                        <a:t>Alternative Flow – incorrect password.</a:t>
                      </a:r>
                      <a:endParaRPr lang="en-US" sz="1400" dirty="0">
                        <a:effectLst/>
                      </a:endParaRPr>
                    </a:p>
                  </a:txBody>
                  <a:tcPr marL="68580" marR="68580" marT="0" marB="0" anchor="ctr"/>
                </a:tc>
              </a:tr>
              <a:tr h="608801">
                <a:tc>
                  <a:txBody>
                    <a:bodyPr/>
                    <a:lstStyle/>
                    <a:p>
                      <a:pPr marL="0" marR="0" algn="ctr">
                        <a:lnSpc>
                          <a:spcPts val="1360"/>
                        </a:lnSpc>
                        <a:buNone/>
                      </a:pPr>
                      <a:r>
                        <a:rPr lang="en-US" sz="1200">
                          <a:effectLst/>
                        </a:rPr>
                        <a:t>Scenario 3</a:t>
                      </a:r>
                      <a:endParaRPr lang="en-US" sz="1200">
                        <a:effectLst/>
                      </a:endParaRPr>
                    </a:p>
                  </a:txBody>
                  <a:tcPr marL="68580" marR="68580" marT="0" marB="0" anchor="ctr"/>
                </a:tc>
                <a:tc>
                  <a:txBody>
                    <a:bodyPr/>
                    <a:lstStyle/>
                    <a:p>
                      <a:pPr marL="0" marR="0" algn="l">
                        <a:lnSpc>
                          <a:spcPts val="1360"/>
                        </a:lnSpc>
                        <a:buNone/>
                      </a:pPr>
                      <a:r>
                        <a:rPr lang="en-US" sz="1400">
                          <a:effectLst/>
                        </a:rPr>
                        <a:t>Alternative Flow – unregistered email.</a:t>
                      </a:r>
                      <a:endParaRPr lang="en-US" sz="1400">
                        <a:effectLst/>
                      </a:endParaRPr>
                    </a:p>
                  </a:txBody>
                  <a:tcPr marL="68580" marR="68580" marT="0" marB="0" anchor="ctr"/>
                </a:tc>
              </a:tr>
              <a:tr h="595271">
                <a:tc>
                  <a:txBody>
                    <a:bodyPr/>
                    <a:lstStyle/>
                    <a:p>
                      <a:pPr marL="0" marR="0" algn="ctr">
                        <a:lnSpc>
                          <a:spcPts val="1360"/>
                        </a:lnSpc>
                        <a:buNone/>
                      </a:pPr>
                      <a:r>
                        <a:rPr lang="en-US" sz="1200">
                          <a:effectLst/>
                        </a:rPr>
                        <a:t>Scenario 4</a:t>
                      </a:r>
                      <a:endParaRPr lang="en-US" sz="1200">
                        <a:effectLst/>
                      </a:endParaRPr>
                    </a:p>
                  </a:txBody>
                  <a:tcPr marL="68580" marR="68580" marT="0" marB="0" anchor="ctr"/>
                </a:tc>
                <a:tc>
                  <a:txBody>
                    <a:bodyPr/>
                    <a:lstStyle/>
                    <a:p>
                      <a:pPr marL="0" marR="0" algn="l">
                        <a:lnSpc>
                          <a:spcPts val="1360"/>
                        </a:lnSpc>
                        <a:buNone/>
                      </a:pPr>
                      <a:r>
                        <a:rPr lang="en-US" sz="1400">
                          <a:effectLst/>
                        </a:rPr>
                        <a:t>Alternative Flow – empty fields.</a:t>
                      </a:r>
                      <a:endParaRPr lang="en-US" sz="1400">
                        <a:effectLst/>
                      </a:endParaRPr>
                    </a:p>
                  </a:txBody>
                  <a:tcPr marL="68580" marR="68580" marT="0" marB="0" anchor="ct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en-US" dirty="0"/>
          </a:p>
        </p:txBody>
      </p:sp>
      <p:sp>
        <p:nvSpPr>
          <p:cNvPr id="3" name="Content Placeholder 2"/>
          <p:cNvSpPr>
            <a:spLocks noGrp="1"/>
          </p:cNvSpPr>
          <p:nvPr>
            <p:ph idx="1"/>
          </p:nvPr>
        </p:nvSpPr>
        <p:spPr>
          <a:xfrm>
            <a:off x="457200" y="1371600"/>
            <a:ext cx="7122160" cy="464185"/>
          </a:xfrm>
        </p:spPr>
        <p:txBody>
          <a:bodyPr/>
          <a:lstStyle/>
          <a:p>
            <a:pPr algn="just"/>
            <a:r>
              <a:rPr lang="en-US" altLang="en-US" sz="2000" b="1" dirty="0"/>
              <a:t>Inputs, Valid &amp; Invalid Classes (ECP) - User Sign In.</a:t>
            </a:r>
            <a:endParaRPr lang="en-US" altLang="en-US" sz="2000" dirty="0"/>
          </a:p>
        </p:txBody>
      </p:sp>
      <p:graphicFrame>
        <p:nvGraphicFramePr>
          <p:cNvPr id="5" name="Table 4"/>
          <p:cNvGraphicFramePr>
            <a:graphicFrameLocks noGrp="1"/>
          </p:cNvGraphicFramePr>
          <p:nvPr/>
        </p:nvGraphicFramePr>
        <p:xfrm>
          <a:off x="1028700" y="2302510"/>
          <a:ext cx="7086600" cy="1420495"/>
        </p:xfrm>
        <a:graphic>
          <a:graphicData uri="http://schemas.openxmlformats.org/drawingml/2006/table">
            <a:tbl>
              <a:tblPr firstRow="1" firstCol="1" bandRow="1">
                <a:tableStyleId>{3B4B98B0-60AC-42C2-AFA5-B58CD77FA1E5}</a:tableStyleId>
              </a:tblPr>
              <a:tblGrid>
                <a:gridCol w="1097653"/>
                <a:gridCol w="2766598"/>
                <a:gridCol w="3222349"/>
              </a:tblGrid>
              <a:tr h="481330">
                <a:tc>
                  <a:txBody>
                    <a:bodyPr/>
                    <a:lstStyle/>
                    <a:p>
                      <a:pPr marL="0" marR="0" algn="ctr">
                        <a:lnSpc>
                          <a:spcPts val="1360"/>
                        </a:lnSpc>
                        <a:buNone/>
                      </a:pPr>
                      <a:r>
                        <a:rPr lang="en-US" sz="1200">
                          <a:effectLst/>
                        </a:rPr>
                        <a:t>Input</a:t>
                      </a:r>
                      <a:endParaRPr lang="en-US" sz="1100">
                        <a:effectLst/>
                      </a:endParaRPr>
                    </a:p>
                    <a:p>
                      <a:pPr marL="0" marR="0" algn="ctr">
                        <a:lnSpc>
                          <a:spcPts val="1360"/>
                        </a:lnSpc>
                        <a:buNone/>
                      </a:pPr>
                      <a:r>
                        <a:rPr lang="en-US" sz="1200">
                          <a:effectLst/>
                        </a:rPr>
                        <a:t> </a:t>
                      </a:r>
                      <a:endParaRPr lang="en-US" sz="1200">
                        <a:effectLst/>
                      </a:endParaRPr>
                    </a:p>
                  </a:txBody>
                  <a:tcPr marL="68580" marR="68580" marT="0" marB="0" anchor="ctr"/>
                </a:tc>
                <a:tc>
                  <a:txBody>
                    <a:bodyPr/>
                    <a:lstStyle/>
                    <a:p>
                      <a:pPr marL="0" marR="0" algn="ctr">
                        <a:lnSpc>
                          <a:spcPts val="1360"/>
                        </a:lnSpc>
                        <a:buNone/>
                      </a:pPr>
                      <a:r>
                        <a:rPr lang="en-US" sz="1200">
                          <a:effectLst/>
                        </a:rPr>
                        <a:t>Valid Class</a:t>
                      </a:r>
                      <a:endParaRPr lang="en-US" sz="1200">
                        <a:effectLst/>
                      </a:endParaRPr>
                    </a:p>
                  </a:txBody>
                  <a:tcPr marL="68580" marR="68580" marT="0" marB="0" anchor="ctr"/>
                </a:tc>
                <a:tc>
                  <a:txBody>
                    <a:bodyPr/>
                    <a:lstStyle/>
                    <a:p>
                      <a:pPr marL="0" marR="0" algn="ctr">
                        <a:lnSpc>
                          <a:spcPts val="1360"/>
                        </a:lnSpc>
                        <a:buNone/>
                      </a:pPr>
                      <a:r>
                        <a:rPr lang="en-US" sz="1200" dirty="0">
                          <a:effectLst/>
                        </a:rPr>
                        <a:t>Invalid Class</a:t>
                      </a:r>
                      <a:endParaRPr lang="en-US" sz="1200" dirty="0">
                        <a:effectLst/>
                      </a:endParaRPr>
                    </a:p>
                  </a:txBody>
                  <a:tcPr marL="68580" marR="68580" marT="0" marB="0" anchor="ctr"/>
                </a:tc>
              </a:tr>
              <a:tr h="551815">
                <a:tc>
                  <a:txBody>
                    <a:bodyPr/>
                    <a:lstStyle/>
                    <a:p>
                      <a:pPr marL="0" marR="0" algn="ctr">
                        <a:lnSpc>
                          <a:spcPts val="1360"/>
                        </a:lnSpc>
                        <a:buNone/>
                      </a:pPr>
                      <a:r>
                        <a:rPr lang="en-US" sz="1200" dirty="0">
                          <a:effectLst/>
                        </a:rPr>
                        <a:t>Email</a:t>
                      </a:r>
                      <a:endParaRPr lang="en-US" sz="1200" dirty="0">
                        <a:effectLst/>
                      </a:endParaRPr>
                    </a:p>
                  </a:txBody>
                  <a:tcPr marL="68580" marR="68580" marT="0" marB="0" anchor="ctr"/>
                </a:tc>
                <a:tc>
                  <a:txBody>
                    <a:bodyPr/>
                    <a:lstStyle/>
                    <a:p>
                      <a:pPr marL="0" marR="0" algn="ctr">
                        <a:lnSpc>
                          <a:spcPts val="1360"/>
                        </a:lnSpc>
                        <a:buNone/>
                      </a:pPr>
                      <a:r>
                        <a:rPr lang="en-US" sz="1200" dirty="0">
                          <a:effectLst/>
                        </a:rPr>
                        <a:t>Registered email in proper format.</a:t>
                      </a:r>
                      <a:endParaRPr lang="en-US" sz="1200" dirty="0">
                        <a:effectLst/>
                      </a:endParaRPr>
                    </a:p>
                  </a:txBody>
                  <a:tcPr marL="68580" marR="68580" marT="0" marB="0" anchor="ctr"/>
                </a:tc>
                <a:tc>
                  <a:txBody>
                    <a:bodyPr/>
                    <a:lstStyle/>
                    <a:p>
                      <a:pPr marL="0" marR="0" algn="ctr">
                        <a:lnSpc>
                          <a:spcPts val="1360"/>
                        </a:lnSpc>
                        <a:buNone/>
                      </a:pPr>
                      <a:r>
                        <a:rPr lang="en-US" altLang="en-US" sz="1100">
                          <a:effectLst/>
                        </a:rPr>
                        <a:t>Non-registered email; invalid format; empty.</a:t>
                      </a:r>
                      <a:endParaRPr lang="en-US" altLang="en-US" sz="1100">
                        <a:effectLst/>
                      </a:endParaRPr>
                    </a:p>
                  </a:txBody>
                  <a:tcPr marL="68580" marR="68580" marT="0" marB="0" anchor="ctr"/>
                </a:tc>
              </a:tr>
              <a:tr h="387350">
                <a:tc>
                  <a:txBody>
                    <a:bodyPr/>
                    <a:lstStyle/>
                    <a:p>
                      <a:pPr marL="0" marR="0" algn="ctr">
                        <a:lnSpc>
                          <a:spcPts val="1360"/>
                        </a:lnSpc>
                        <a:buNone/>
                      </a:pPr>
                      <a:r>
                        <a:rPr lang="en-US" sz="1200">
                          <a:effectLst/>
                        </a:rPr>
                        <a:t>Password</a:t>
                      </a:r>
                      <a:endParaRPr lang="en-US" sz="1200">
                        <a:effectLst/>
                      </a:endParaRPr>
                    </a:p>
                  </a:txBody>
                  <a:tcPr marL="68580" marR="68580" marT="0" marB="0" anchor="ctr"/>
                </a:tc>
                <a:tc>
                  <a:txBody>
                    <a:bodyPr/>
                    <a:lstStyle/>
                    <a:p>
                      <a:pPr marL="0" marR="0" algn="ctr">
                        <a:lnSpc>
                          <a:spcPts val="1360"/>
                        </a:lnSpc>
                        <a:buNone/>
                      </a:pPr>
                      <a:r>
                        <a:rPr lang="en-US" sz="1200">
                          <a:effectLst/>
                        </a:rPr>
                        <a:t>Correct password. </a:t>
                      </a:r>
                      <a:endParaRPr lang="en-US" sz="1200">
                        <a:effectLst/>
                      </a:endParaRPr>
                    </a:p>
                  </a:txBody>
                  <a:tcPr marL="68580" marR="68580" marT="0" marB="0" anchor="ctr"/>
                </a:tc>
                <a:tc>
                  <a:txBody>
                    <a:bodyPr/>
                    <a:lstStyle/>
                    <a:p>
                      <a:pPr marL="0" marR="0" algn="ctr">
                        <a:lnSpc>
                          <a:spcPts val="1360"/>
                        </a:lnSpc>
                        <a:buNone/>
                      </a:pPr>
                      <a:r>
                        <a:rPr lang="en-US" sz="1200">
                          <a:effectLst/>
                        </a:rPr>
                        <a:t>Incorrect password; empty.</a:t>
                      </a:r>
                      <a:endParaRPr lang="en-US" sz="1200">
                        <a:effectLst/>
                      </a:endParaRPr>
                    </a:p>
                  </a:txBody>
                  <a:tcPr marL="68580" marR="68580" marT="0" marB="0"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endParaRPr lang="en-US" dirty="0"/>
          </a:p>
        </p:txBody>
      </p:sp>
      <p:sp>
        <p:nvSpPr>
          <p:cNvPr id="3" name="Content Placeholder 2"/>
          <p:cNvSpPr>
            <a:spLocks noGrp="1"/>
          </p:cNvSpPr>
          <p:nvPr>
            <p:ph idx="1"/>
          </p:nvPr>
        </p:nvSpPr>
        <p:spPr>
          <a:xfrm>
            <a:off x="457200" y="1371600"/>
            <a:ext cx="7122160" cy="464185"/>
          </a:xfrm>
        </p:spPr>
        <p:txBody>
          <a:bodyPr/>
          <a:lstStyle/>
          <a:p>
            <a:pPr algn="just"/>
            <a:r>
              <a:rPr lang="en-US" altLang="en-US" sz="2000" b="1" dirty="0"/>
              <a:t>Test Case Design - User Sign In.</a:t>
            </a:r>
            <a:endParaRPr lang="en-US" altLang="en-US" sz="2000" dirty="0"/>
          </a:p>
          <a:p>
            <a:pPr marL="0" indent="0" algn="just">
              <a:buNone/>
            </a:pPr>
            <a:endParaRPr lang="en-US" altLang="en-US" sz="2000" dirty="0"/>
          </a:p>
        </p:txBody>
      </p:sp>
      <p:graphicFrame>
        <p:nvGraphicFramePr>
          <p:cNvPr id="4" name="Table 3"/>
          <p:cNvGraphicFramePr>
            <a:graphicFrameLocks noGrp="1"/>
          </p:cNvGraphicFramePr>
          <p:nvPr>
            <p:custDataLst>
              <p:tags r:id="rId1"/>
            </p:custDataLst>
          </p:nvPr>
        </p:nvGraphicFramePr>
        <p:xfrm>
          <a:off x="838200" y="2057400"/>
          <a:ext cx="7774305" cy="2357755"/>
        </p:xfrm>
        <a:graphic>
          <a:graphicData uri="http://schemas.openxmlformats.org/drawingml/2006/table">
            <a:tbl>
              <a:tblPr firstRow="1" firstCol="1" bandRow="1">
                <a:tableStyleId>{3B4B98B0-60AC-42C2-AFA5-B58CD77FA1E5}</a:tableStyleId>
              </a:tblPr>
              <a:tblGrid>
                <a:gridCol w="1271905"/>
                <a:gridCol w="1642745"/>
                <a:gridCol w="2136140"/>
                <a:gridCol w="1029970"/>
                <a:gridCol w="1693545"/>
              </a:tblGrid>
              <a:tr h="364558">
                <a:tc>
                  <a:txBody>
                    <a:bodyPr/>
                    <a:lstStyle/>
                    <a:p>
                      <a:pPr marL="0" marR="0" algn="ctr">
                        <a:lnSpc>
                          <a:spcPts val="1360"/>
                        </a:lnSpc>
                        <a:buNone/>
                      </a:pPr>
                      <a:r>
                        <a:rPr lang="en-US" sz="1100">
                          <a:effectLst/>
                        </a:rPr>
                        <a:t>Test Case ID</a:t>
                      </a:r>
                      <a:endParaRPr lang="en-US" sz="1100">
                        <a:effectLst/>
                      </a:endParaRPr>
                    </a:p>
                  </a:txBody>
                  <a:tcPr marL="63096" marR="63096" marT="0" marB="0" anchor="ctr" anchorCtr="0"/>
                </a:tc>
                <a:tc>
                  <a:txBody>
                    <a:bodyPr/>
                    <a:lstStyle/>
                    <a:p>
                      <a:pPr marL="0" marR="0" algn="ctr">
                        <a:lnSpc>
                          <a:spcPts val="1360"/>
                        </a:lnSpc>
                        <a:buNone/>
                      </a:pPr>
                      <a:r>
                        <a:rPr lang="en-US" sz="1100">
                          <a:effectLst/>
                        </a:rPr>
                        <a:t>Scenario</a:t>
                      </a:r>
                      <a:endParaRPr lang="en-US" sz="1100">
                        <a:effectLst/>
                      </a:endParaRPr>
                    </a:p>
                  </a:txBody>
                  <a:tcPr marL="63096" marR="63096" marT="0" marB="0" anchor="ctr" anchorCtr="0"/>
                </a:tc>
                <a:tc>
                  <a:txBody>
                    <a:bodyPr/>
                    <a:lstStyle/>
                    <a:p>
                      <a:pPr marL="0" marR="0" algn="ctr">
                        <a:lnSpc>
                          <a:spcPts val="1360"/>
                        </a:lnSpc>
                        <a:buNone/>
                      </a:pPr>
                      <a:r>
                        <a:rPr lang="en-US" sz="1100">
                          <a:effectLst/>
                        </a:rPr>
                        <a:t>Email</a:t>
                      </a:r>
                      <a:endParaRPr lang="en-US" sz="1100">
                        <a:effectLst/>
                      </a:endParaRPr>
                    </a:p>
                  </a:txBody>
                  <a:tcPr marL="63096" marR="63096" marT="0" marB="0" anchor="ctr" anchorCtr="0"/>
                </a:tc>
                <a:tc>
                  <a:txBody>
                    <a:bodyPr/>
                    <a:lstStyle/>
                    <a:p>
                      <a:pPr marL="0" marR="0" algn="ctr">
                        <a:lnSpc>
                          <a:spcPts val="1360"/>
                        </a:lnSpc>
                        <a:buNone/>
                      </a:pPr>
                      <a:r>
                        <a:rPr lang="en-US" sz="1100">
                          <a:effectLst/>
                        </a:rPr>
                        <a:t>Password</a:t>
                      </a:r>
                      <a:endParaRPr lang="en-US" sz="1100">
                        <a:effectLst/>
                      </a:endParaRPr>
                    </a:p>
                  </a:txBody>
                  <a:tcPr marL="63096" marR="63096" marT="0" marB="0" anchor="ctr" anchorCtr="0"/>
                </a:tc>
                <a:tc>
                  <a:txBody>
                    <a:bodyPr/>
                    <a:lstStyle/>
                    <a:p>
                      <a:pPr marL="0" marR="0" algn="ctr">
                        <a:lnSpc>
                          <a:spcPts val="1360"/>
                        </a:lnSpc>
                        <a:buNone/>
                      </a:pPr>
                      <a:r>
                        <a:rPr lang="en-US" sz="1100">
                          <a:effectLst/>
                        </a:rPr>
                        <a:t>Expected Outcome</a:t>
                      </a:r>
                      <a:endParaRPr lang="en-US" sz="1100">
                        <a:effectLst/>
                      </a:endParaRPr>
                    </a:p>
                  </a:txBody>
                  <a:tcPr marL="63096" marR="63096" marT="0" marB="0" anchor="ctr" anchorCtr="0"/>
                </a:tc>
              </a:tr>
              <a:tr h="584835">
                <a:tc>
                  <a:txBody>
                    <a:bodyPr/>
                    <a:lstStyle/>
                    <a:p>
                      <a:pPr marL="0" marR="0" algn="ctr">
                        <a:lnSpc>
                          <a:spcPts val="1360"/>
                        </a:lnSpc>
                        <a:buNone/>
                      </a:pPr>
                      <a:r>
                        <a:rPr lang="en-US" sz="1100">
                          <a:effectLst/>
                        </a:rPr>
                        <a:t>TC_SI_01</a:t>
                      </a:r>
                      <a:endParaRPr lang="en-US" sz="1100">
                        <a:effectLst/>
                      </a:endParaRPr>
                    </a:p>
                  </a:txBody>
                  <a:tcPr marL="63096" marR="63096" marT="0" marB="0" anchor="ctr" anchorCtr="0"/>
                </a:tc>
                <a:tc>
                  <a:txBody>
                    <a:bodyPr/>
                    <a:lstStyle/>
                    <a:p>
                      <a:pPr marL="0" marR="0" algn="ctr">
                        <a:lnSpc>
                          <a:spcPts val="1360"/>
                        </a:lnSpc>
                        <a:buNone/>
                      </a:pPr>
                      <a:r>
                        <a:rPr lang="en-US" sz="1100">
                          <a:effectLst/>
                        </a:rPr>
                        <a:t>Scenario 1</a:t>
                      </a:r>
                      <a:endParaRPr lang="en-US" sz="1100">
                        <a:effectLst/>
                      </a:endParaRPr>
                    </a:p>
                  </a:txBody>
                  <a:tcPr marL="63096" marR="63096" marT="0" marB="0" anchor="ctr" anchorCtr="0"/>
                </a:tc>
                <a:tc>
                  <a:txBody>
                    <a:bodyPr/>
                    <a:lstStyle/>
                    <a:p>
                      <a:pPr marL="0" marR="0" algn="ctr">
                        <a:lnSpc>
                          <a:spcPts val="1360"/>
                        </a:lnSpc>
                        <a:buNone/>
                      </a:pPr>
                      <a:r>
                        <a:rPr lang="en-US" sz="1100" dirty="0">
                          <a:effectLst/>
                        </a:rPr>
                        <a:t>user@example.com</a:t>
                      </a:r>
                      <a:endParaRPr lang="en-US" sz="1100" dirty="0">
                        <a:effectLst/>
                      </a:endParaRPr>
                    </a:p>
                  </a:txBody>
                  <a:tcPr marL="63096" marR="63096" marT="0" marB="0" anchor="ctr" anchorCtr="0"/>
                </a:tc>
                <a:tc>
                  <a:txBody>
                    <a:bodyPr/>
                    <a:lstStyle/>
                    <a:p>
                      <a:pPr marL="0" marR="0" algn="ctr">
                        <a:lnSpc>
                          <a:spcPts val="1360"/>
                        </a:lnSpc>
                        <a:buNone/>
                      </a:pPr>
                      <a:r>
                        <a:rPr lang="en-US" sz="1100" dirty="0">
                          <a:effectLst/>
                        </a:rPr>
                        <a:t>ValidPass121</a:t>
                      </a:r>
                      <a:endParaRPr lang="en-US" sz="1100" dirty="0">
                        <a:effectLst/>
                      </a:endParaRPr>
                    </a:p>
                  </a:txBody>
                  <a:tcPr marL="63096" marR="63096" marT="0" marB="0" anchor="ctr" anchorCtr="0"/>
                </a:tc>
                <a:tc>
                  <a:txBody>
                    <a:bodyPr/>
                    <a:lstStyle/>
                    <a:p>
                      <a:pPr marL="0" marR="0" algn="ctr">
                        <a:lnSpc>
                          <a:spcPts val="1360"/>
                        </a:lnSpc>
                        <a:buNone/>
                      </a:pPr>
                      <a:r>
                        <a:rPr lang="en-US" altLang="en-US" sz="1200">
                          <a:effectLst/>
                        </a:rPr>
                        <a:t>User successfully logs in and accesses dashboard</a:t>
                      </a:r>
                      <a:endParaRPr lang="en-US" altLang="en-US" sz="1200">
                        <a:effectLst/>
                      </a:endParaRPr>
                    </a:p>
                  </a:txBody>
                  <a:tcPr marL="63096" marR="63096" marT="0" marB="0" anchor="ctr" anchorCtr="0"/>
                </a:tc>
              </a:tr>
              <a:tr h="380172">
                <a:tc>
                  <a:txBody>
                    <a:bodyPr/>
                    <a:lstStyle/>
                    <a:p>
                      <a:pPr marL="0" marR="0" algn="ctr">
                        <a:lnSpc>
                          <a:spcPts val="1360"/>
                        </a:lnSpc>
                        <a:buNone/>
                      </a:pPr>
                      <a:r>
                        <a:rPr lang="en-US" sz="1100">
                          <a:effectLst/>
                        </a:rPr>
                        <a:t>TC_SI_02</a:t>
                      </a:r>
                      <a:endParaRPr lang="en-US" sz="1100">
                        <a:effectLst/>
                      </a:endParaRPr>
                    </a:p>
                  </a:txBody>
                  <a:tcPr marL="63096" marR="63096" marT="0" marB="0" anchor="ctr" anchorCtr="0"/>
                </a:tc>
                <a:tc>
                  <a:txBody>
                    <a:bodyPr/>
                    <a:lstStyle/>
                    <a:p>
                      <a:pPr marL="0" marR="0" algn="ctr">
                        <a:lnSpc>
                          <a:spcPts val="1360"/>
                        </a:lnSpc>
                        <a:buNone/>
                      </a:pPr>
                      <a:r>
                        <a:rPr lang="en-US" sz="1100" dirty="0">
                          <a:effectLst/>
                        </a:rPr>
                        <a:t>Scenario 2</a:t>
                      </a:r>
                      <a:endParaRPr lang="en-US" sz="1100" dirty="0">
                        <a:effectLst/>
                      </a:endParaRPr>
                    </a:p>
                  </a:txBody>
                  <a:tcPr marL="63096" marR="63096" marT="0" marB="0" anchor="ctr" anchorCtr="0"/>
                </a:tc>
                <a:tc>
                  <a:txBody>
                    <a:bodyPr/>
                    <a:lstStyle/>
                    <a:p>
                      <a:pPr marL="0" marR="0" algn="ctr">
                        <a:lnSpc>
                          <a:spcPts val="1360"/>
                        </a:lnSpc>
                        <a:buNone/>
                      </a:pPr>
                      <a:r>
                        <a:rPr lang="en-US" sz="1100" dirty="0">
                          <a:effectLst/>
                        </a:rPr>
                        <a:t>user@example.com</a:t>
                      </a:r>
                      <a:endParaRPr lang="en-US" sz="1100" dirty="0">
                        <a:effectLst/>
                      </a:endParaRPr>
                    </a:p>
                  </a:txBody>
                  <a:tcPr marL="63096" marR="63096" marT="0" marB="0" anchor="ctr" anchorCtr="0"/>
                </a:tc>
                <a:tc>
                  <a:txBody>
                    <a:bodyPr/>
                    <a:lstStyle/>
                    <a:p>
                      <a:pPr marL="0" marR="0" algn="ctr">
                        <a:lnSpc>
                          <a:spcPts val="1360"/>
                        </a:lnSpc>
                        <a:buNone/>
                      </a:pPr>
                      <a:r>
                        <a:rPr lang="en-US" sz="1100">
                          <a:effectLst/>
                        </a:rPr>
                        <a:t>WrongPass222</a:t>
                      </a:r>
                      <a:endParaRPr lang="en-US" sz="1100">
                        <a:effectLst/>
                      </a:endParaRPr>
                    </a:p>
                  </a:txBody>
                  <a:tcPr marL="63096" marR="63096" marT="0" marB="0" anchor="ctr" anchorCtr="0"/>
                </a:tc>
                <a:tc>
                  <a:txBody>
                    <a:bodyPr/>
                    <a:lstStyle/>
                    <a:p>
                      <a:pPr marL="0" marR="0" algn="ctr">
                        <a:lnSpc>
                          <a:spcPts val="1360"/>
                        </a:lnSpc>
                        <a:buNone/>
                      </a:pPr>
                      <a:r>
                        <a:rPr lang="en-US" sz="1100">
                          <a:effectLst/>
                        </a:rPr>
                        <a:t>Error: Invalid credentials</a:t>
                      </a:r>
                      <a:endParaRPr lang="en-US" sz="1100">
                        <a:effectLst/>
                      </a:endParaRPr>
                    </a:p>
                  </a:txBody>
                  <a:tcPr marL="63096" marR="63096" marT="0" marB="0" anchor="ctr" anchorCtr="0"/>
                </a:tc>
              </a:tr>
              <a:tr h="594995">
                <a:tc>
                  <a:txBody>
                    <a:bodyPr/>
                    <a:lstStyle/>
                    <a:p>
                      <a:pPr marL="0" marR="0" algn="ctr">
                        <a:lnSpc>
                          <a:spcPts val="1360"/>
                        </a:lnSpc>
                        <a:buNone/>
                      </a:pPr>
                      <a:r>
                        <a:rPr lang="en-US" sz="1100">
                          <a:effectLst/>
                        </a:rPr>
                        <a:t>TC_SI_03</a:t>
                      </a:r>
                      <a:endParaRPr lang="en-US" sz="1100">
                        <a:effectLst/>
                      </a:endParaRPr>
                    </a:p>
                  </a:txBody>
                  <a:tcPr marL="63096" marR="63096" marT="0" marB="0" anchor="ctr" anchorCtr="0"/>
                </a:tc>
                <a:tc>
                  <a:txBody>
                    <a:bodyPr/>
                    <a:lstStyle/>
                    <a:p>
                      <a:pPr marL="0" marR="0" algn="ctr">
                        <a:lnSpc>
                          <a:spcPts val="1360"/>
                        </a:lnSpc>
                        <a:buNone/>
                      </a:pPr>
                      <a:r>
                        <a:rPr lang="en-US" sz="1100">
                          <a:effectLst/>
                        </a:rPr>
                        <a:t>Scenario 3</a:t>
                      </a:r>
                      <a:endParaRPr lang="en-US" sz="1100">
                        <a:effectLst/>
                      </a:endParaRPr>
                    </a:p>
                  </a:txBody>
                  <a:tcPr marL="63096" marR="63096" marT="0" marB="0" anchor="ctr" anchorCtr="0"/>
                </a:tc>
                <a:tc>
                  <a:txBody>
                    <a:bodyPr/>
                    <a:lstStyle/>
                    <a:p>
                      <a:pPr marL="0" marR="0" algn="ctr">
                        <a:lnSpc>
                          <a:spcPts val="1360"/>
                        </a:lnSpc>
                        <a:buNone/>
                      </a:pPr>
                      <a:r>
                        <a:rPr lang="en-US" sz="1100" dirty="0">
                          <a:effectLst/>
                        </a:rPr>
                        <a:t>unknown@example.com</a:t>
                      </a:r>
                      <a:endParaRPr lang="en-US" sz="1100" dirty="0">
                        <a:effectLst/>
                      </a:endParaRPr>
                    </a:p>
                  </a:txBody>
                  <a:tcPr marL="63096" marR="63096" marT="0" marB="0" anchor="ctr" anchorCtr="0"/>
                </a:tc>
                <a:tc>
                  <a:txBody>
                    <a:bodyPr/>
                    <a:lstStyle/>
                    <a:p>
                      <a:pPr marL="0" marR="0" algn="ctr">
                        <a:lnSpc>
                          <a:spcPts val="1360"/>
                        </a:lnSpc>
                        <a:buNone/>
                      </a:pPr>
                      <a:r>
                        <a:rPr lang="en-US" sz="1100">
                          <a:effectLst/>
                        </a:rPr>
                        <a:t>ValidPass125</a:t>
                      </a:r>
                      <a:endParaRPr lang="en-US" sz="1100">
                        <a:effectLst/>
                      </a:endParaRPr>
                    </a:p>
                  </a:txBody>
                  <a:tcPr marL="63096" marR="63096" marT="0" marB="0" anchor="ctr" anchorCtr="0"/>
                </a:tc>
                <a:tc>
                  <a:txBody>
                    <a:bodyPr/>
                    <a:lstStyle/>
                    <a:p>
                      <a:pPr marL="0" marR="0" algn="ctr">
                        <a:lnSpc>
                          <a:spcPts val="1360"/>
                        </a:lnSpc>
                        <a:buNone/>
                      </a:pPr>
                      <a:r>
                        <a:rPr lang="en-US" sz="1100">
                          <a:effectLst/>
                        </a:rPr>
                        <a:t>Error: Email not found.</a:t>
                      </a:r>
                      <a:endParaRPr lang="en-US" sz="1100">
                        <a:effectLst/>
                      </a:endParaRPr>
                    </a:p>
                  </a:txBody>
                  <a:tcPr marL="63096" marR="63096" marT="0" marB="0" anchor="ctr" anchorCtr="0"/>
                </a:tc>
              </a:tr>
              <a:tr h="433070">
                <a:tc>
                  <a:txBody>
                    <a:bodyPr/>
                    <a:lstStyle/>
                    <a:p>
                      <a:pPr marL="0" marR="0" algn="ctr">
                        <a:lnSpc>
                          <a:spcPts val="1360"/>
                        </a:lnSpc>
                        <a:buNone/>
                      </a:pPr>
                      <a:r>
                        <a:rPr lang="en-US" sz="1100">
                          <a:effectLst/>
                        </a:rPr>
                        <a:t>TC_SI_04</a:t>
                      </a:r>
                      <a:endParaRPr lang="en-US" sz="1100">
                        <a:effectLst/>
                      </a:endParaRPr>
                    </a:p>
                  </a:txBody>
                  <a:tcPr marL="63096" marR="63096" marT="0" marB="0" anchor="ctr" anchorCtr="0"/>
                </a:tc>
                <a:tc>
                  <a:txBody>
                    <a:bodyPr/>
                    <a:lstStyle/>
                    <a:p>
                      <a:pPr marL="0" marR="0" algn="ctr">
                        <a:lnSpc>
                          <a:spcPts val="1360"/>
                        </a:lnSpc>
                        <a:buNone/>
                      </a:pPr>
                      <a:r>
                        <a:rPr lang="en-US" sz="1100">
                          <a:effectLst/>
                        </a:rPr>
                        <a:t>Scenario 4</a:t>
                      </a:r>
                      <a:endParaRPr lang="en-US" sz="1100">
                        <a:effectLst/>
                      </a:endParaRPr>
                    </a:p>
                  </a:txBody>
                  <a:tcPr marL="63096" marR="63096" marT="0" marB="0" anchor="ctr" anchorCtr="0"/>
                </a:tc>
                <a:tc>
                  <a:txBody>
                    <a:bodyPr/>
                    <a:lstStyle/>
                    <a:p>
                      <a:pPr marL="0" marR="0" algn="ctr">
                        <a:lnSpc>
                          <a:spcPts val="1360"/>
                        </a:lnSpc>
                        <a:buNone/>
                      </a:pPr>
                      <a:r>
                        <a:rPr lang="en-US" sz="1100" dirty="0">
                          <a:effectLst/>
                        </a:rPr>
                        <a:t>- </a:t>
                      </a:r>
                      <a:endParaRPr lang="en-US" sz="1100" dirty="0">
                        <a:effectLst/>
                      </a:endParaRPr>
                    </a:p>
                  </a:txBody>
                  <a:tcPr marL="63096" marR="63096" marT="0" marB="0" anchor="ctr" anchorCtr="0"/>
                </a:tc>
                <a:tc>
                  <a:txBody>
                    <a:bodyPr/>
                    <a:lstStyle/>
                    <a:p>
                      <a:pPr marL="0" marR="0" algn="ctr">
                        <a:lnSpc>
                          <a:spcPts val="1360"/>
                        </a:lnSpc>
                        <a:buNone/>
                      </a:pPr>
                      <a:r>
                        <a:rPr lang="en-US" sz="1100">
                          <a:effectLst/>
                        </a:rPr>
                        <a:t>-</a:t>
                      </a:r>
                      <a:endParaRPr lang="en-US" sz="1100">
                        <a:effectLst/>
                      </a:endParaRPr>
                    </a:p>
                  </a:txBody>
                  <a:tcPr marL="63096" marR="63096" marT="0" marB="0" anchor="ctr" anchorCtr="0"/>
                </a:tc>
                <a:tc>
                  <a:txBody>
                    <a:bodyPr/>
                    <a:lstStyle/>
                    <a:p>
                      <a:pPr marL="0" marR="0" algn="ctr">
                        <a:lnSpc>
                          <a:spcPts val="1360"/>
                        </a:lnSpc>
                        <a:buNone/>
                      </a:pPr>
                      <a:r>
                        <a:rPr lang="en-US" sz="1100">
                          <a:effectLst/>
                        </a:rPr>
                        <a:t>Error: fields cannot be empty.</a:t>
                      </a:r>
                      <a:endParaRPr lang="en-US" sz="1100">
                        <a:effectLst/>
                      </a:endParaRPr>
                    </a:p>
                  </a:txBody>
                  <a:tcPr marL="63096" marR="63096" marT="0" marB="0" anchor="ctr" anchorCtr="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Endeavour</a:t>
            </a:r>
            <a:endParaRPr lang="en-US" dirty="0"/>
          </a:p>
        </p:txBody>
      </p:sp>
      <p:sp>
        <p:nvSpPr>
          <p:cNvPr id="12291" name="Text Placeholder 4"/>
          <p:cNvSpPr>
            <a:spLocks noGrp="1"/>
          </p:cNvSpPr>
          <p:nvPr>
            <p:ph type="body" idx="1"/>
          </p:nvPr>
        </p:nvSpPr>
        <p:spPr/>
        <p:txBody>
          <a:bodyPr rtlCol="0">
            <a:normAutofit/>
          </a:bodyPr>
          <a:lstStyle/>
          <a:p>
            <a:pPr marL="44450" eaLnBrk="1" fontAlgn="auto" hangingPunct="1">
              <a:spcAft>
                <a:spcPts val="0"/>
              </a:spcAft>
              <a:buFont typeface="Arial" panose="020B0604020202020204" pitchFamily="34" charset="0"/>
              <a:buNone/>
              <a:defRPr/>
            </a:pPr>
            <a:r>
              <a:rPr lang="en-US"/>
              <a:t>WanderPlan</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Endeavour</a:t>
            </a:r>
            <a:endParaRPr lang="en-US" dirty="0"/>
          </a:p>
        </p:txBody>
      </p:sp>
      <p:sp>
        <p:nvSpPr>
          <p:cNvPr id="3" name="Content Placeholder 2"/>
          <p:cNvSpPr>
            <a:spLocks noGrp="1"/>
          </p:cNvSpPr>
          <p:nvPr>
            <p:ph idx="1"/>
          </p:nvPr>
        </p:nvSpPr>
        <p:spPr>
          <a:xfrm>
            <a:off x="457200" y="1600200"/>
            <a:ext cx="8519795" cy="4526280"/>
          </a:xfrm>
        </p:spPr>
        <p:txBody>
          <a:bodyPr/>
          <a:lstStyle/>
          <a:p>
            <a:r>
              <a:rPr lang="en-US" sz="2800" dirty="0"/>
              <a:t>Roles of our team members</a:t>
            </a:r>
            <a:endParaRPr lang="en-US" sz="2800" dirty="0"/>
          </a:p>
          <a:p>
            <a:endParaRPr lang="en-US" sz="2800" dirty="0"/>
          </a:p>
          <a:p>
            <a:r>
              <a:rPr lang="en-US" sz="2400" b="1" dirty="0"/>
              <a:t>Abdullah Ahtsham  </a:t>
            </a:r>
            <a:r>
              <a:rPr lang="en-US" sz="2400" dirty="0"/>
              <a:t>- </a:t>
            </a:r>
            <a:r>
              <a:rPr lang="en-US" altLang="en-US" sz="2000" dirty="0"/>
              <a:t>Documentation, UI/UX &amp; Wireframes, Testing.</a:t>
            </a:r>
            <a:endParaRPr lang="en-US" altLang="en-US" sz="2400" dirty="0"/>
          </a:p>
          <a:p>
            <a:r>
              <a:rPr lang="en-US" sz="2400" b="1" dirty="0"/>
              <a:t>M. Nabeel Awais</a:t>
            </a:r>
            <a:r>
              <a:rPr lang="en-US" sz="2400" dirty="0"/>
              <a:t>     - </a:t>
            </a:r>
            <a:r>
              <a:rPr lang="en-US" altLang="en-US" sz="2000" dirty="0"/>
              <a:t>Mobile Application, Backend Server &amp; Database.</a:t>
            </a:r>
            <a:endParaRPr lang="en-US" altLang="en-US" sz="2400" dirty="0"/>
          </a:p>
          <a:p>
            <a:r>
              <a:rPr lang="en-US" sz="2400" b="1" dirty="0"/>
              <a:t>M. Bilal Butt</a:t>
            </a:r>
            <a:r>
              <a:rPr lang="en-US" sz="2400" dirty="0"/>
              <a:t>             - </a:t>
            </a:r>
            <a:r>
              <a:rPr lang="en-US" altLang="en-US" sz="2000" dirty="0"/>
              <a:t>Business Panel, Admin Panel.</a:t>
            </a:r>
            <a:endParaRPr lang="en-US" altLang="en-US" sz="2800" dirty="0"/>
          </a:p>
          <a:p>
            <a:pPr marL="0" indent="0">
              <a:buNone/>
            </a:pP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Endeavour</a:t>
            </a:r>
            <a:endParaRPr lang="en-US" dirty="0"/>
          </a:p>
        </p:txBody>
      </p:sp>
      <p:sp>
        <p:nvSpPr>
          <p:cNvPr id="3" name="Content Placeholder 2"/>
          <p:cNvSpPr>
            <a:spLocks noGrp="1"/>
          </p:cNvSpPr>
          <p:nvPr>
            <p:ph idx="1"/>
          </p:nvPr>
        </p:nvSpPr>
        <p:spPr/>
        <p:txBody>
          <a:bodyPr/>
          <a:lstStyle/>
          <a:p>
            <a:r>
              <a:rPr lang="en-US" sz="2800" dirty="0">
                <a:sym typeface="+mn-ea"/>
              </a:rPr>
              <a:t>Software Development Process</a:t>
            </a:r>
            <a:endParaRPr lang="en-US" sz="2800" dirty="0"/>
          </a:p>
          <a:p>
            <a:pPr lvl="1"/>
            <a:r>
              <a:rPr lang="en-US" sz="2450" b="1" dirty="0"/>
              <a:t>Development Model</a:t>
            </a:r>
            <a:endParaRPr lang="en-US" sz="2450" b="1" dirty="0"/>
          </a:p>
          <a:p>
            <a:pPr marL="457200" lvl="1" indent="0" algn="just">
              <a:buNone/>
            </a:pPr>
            <a:r>
              <a:rPr lang="en-US" altLang="en-US" sz="2450" dirty="0"/>
              <a:t>For WanderPlan, we adopted an </a:t>
            </a:r>
            <a:r>
              <a:rPr lang="en-US" altLang="en-US" sz="2450" b="1" dirty="0"/>
              <a:t>iterative</a:t>
            </a:r>
            <a:r>
              <a:rPr lang="en-US" altLang="en-US" sz="2450" dirty="0"/>
              <a:t> and </a:t>
            </a:r>
            <a:r>
              <a:rPr lang="en-US" altLang="en-US" sz="2450" b="1" dirty="0"/>
              <a:t>incremental</a:t>
            </a:r>
            <a:r>
              <a:rPr lang="en-US" altLang="en-US" sz="2450" dirty="0"/>
              <a:t> development model inspired by Agile practices, which allowed us to break the project into </a:t>
            </a:r>
            <a:r>
              <a:rPr lang="en-US" altLang="en-US" sz="2450" i="1" dirty="0"/>
              <a:t>short</a:t>
            </a:r>
            <a:r>
              <a:rPr lang="en-US" altLang="en-US" sz="2450" dirty="0"/>
              <a:t>, </a:t>
            </a:r>
            <a:r>
              <a:rPr lang="en-US" altLang="en-US" sz="2450" i="1" dirty="0"/>
              <a:t>manageable</a:t>
            </a:r>
            <a:r>
              <a:rPr lang="en-US" altLang="en-US" sz="2450" dirty="0"/>
              <a:t> cycles. This approach enabled us to prioritize core features like authentication and reviews and the front end development of majority of our project first, ensuring a functional system existed at every stage.</a:t>
            </a:r>
            <a:endParaRPr lang="en-US" altLang="en-US" sz="2450" dirty="0"/>
          </a:p>
          <a:p>
            <a:pPr marL="0" indent="0">
              <a:buNone/>
            </a:pP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Endeavour</a:t>
            </a:r>
            <a:endParaRPr lang="en-US" dirty="0"/>
          </a:p>
        </p:txBody>
      </p:sp>
      <p:sp>
        <p:nvSpPr>
          <p:cNvPr id="3" name="Content Placeholder 2"/>
          <p:cNvSpPr>
            <a:spLocks noGrp="1"/>
          </p:cNvSpPr>
          <p:nvPr>
            <p:ph idx="1"/>
          </p:nvPr>
        </p:nvSpPr>
        <p:spPr>
          <a:xfrm>
            <a:off x="457200" y="1295400"/>
            <a:ext cx="8229600" cy="4525963"/>
          </a:xfrm>
        </p:spPr>
        <p:txBody>
          <a:bodyPr/>
          <a:lstStyle/>
          <a:p>
            <a:r>
              <a:rPr lang="en-US" sz="2800" dirty="0">
                <a:sym typeface="+mn-ea"/>
              </a:rPr>
              <a:t>Way of Working as a Team</a:t>
            </a:r>
            <a:br>
              <a:rPr lang="en-US" sz="2800" dirty="0">
                <a:sym typeface="+mn-ea"/>
              </a:rPr>
            </a:br>
            <a:endParaRPr lang="en-US" sz="2450" dirty="0"/>
          </a:p>
          <a:p>
            <a:pPr marL="0" indent="0">
              <a:buNone/>
            </a:pPr>
            <a:r>
              <a:rPr lang="en-US" altLang="en-US" sz="2000" b="1" dirty="0"/>
              <a:t>Skill-Based Allocation:</a:t>
            </a:r>
            <a:r>
              <a:rPr lang="en-US" altLang="en-US" sz="2000" dirty="0"/>
              <a:t> Tasks were divided by technical domain—Mobile App, Web Panels, and Documentation—allowing each member to take full ownership of their specific modules.</a:t>
            </a:r>
            <a:endParaRPr lang="en-US" altLang="en-US" sz="2000" dirty="0"/>
          </a:p>
          <a:p>
            <a:pPr marL="0" indent="0">
              <a:buNone/>
            </a:pPr>
            <a:endParaRPr lang="en-US" altLang="en-US" sz="2000" dirty="0"/>
          </a:p>
          <a:p>
            <a:pPr marL="0" indent="0">
              <a:buNone/>
            </a:pPr>
            <a:r>
              <a:rPr lang="en-US" altLang="en-US" sz="2000" b="1" dirty="0"/>
              <a:t>Centralized Version Control:</a:t>
            </a:r>
            <a:r>
              <a:rPr lang="en-US" altLang="en-US" sz="2000" dirty="0"/>
              <a:t> We utilized GitHub Desktop to manage our codebase, enabling simultaneous development of frontend and backend features while ensuring version history and code integrity.</a:t>
            </a:r>
            <a:endParaRPr lang="en-US" altLang="en-US" sz="2000" dirty="0"/>
          </a:p>
          <a:p>
            <a:pPr marL="0" indent="0">
              <a:buNone/>
            </a:pPr>
            <a:endParaRPr lang="en-US" altLang="en-US" sz="2000" dirty="0"/>
          </a:p>
          <a:p>
            <a:pPr marL="0" indent="0">
              <a:buNone/>
            </a:pPr>
            <a:r>
              <a:rPr lang="en-US" altLang="en-US" sz="2000" b="1" dirty="0"/>
              <a:t>Agile Coordination:</a:t>
            </a:r>
            <a:r>
              <a:rPr lang="en-US" altLang="en-US" sz="2000" dirty="0"/>
              <a:t> The team adopted short development cycles with frequent sync-ups to align the integration of mobile and web components and resolve technical issues.</a:t>
            </a:r>
            <a:endParaRPr lang="en-US" alt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NEXT STEPS</a:t>
            </a:r>
            <a:endParaRPr lang="en-US" dirty="0"/>
          </a:p>
        </p:txBody>
      </p:sp>
      <p:sp>
        <p:nvSpPr>
          <p:cNvPr id="12291" name="Text Placeholder 4"/>
          <p:cNvSpPr>
            <a:spLocks noGrp="1"/>
          </p:cNvSpPr>
          <p:nvPr>
            <p:ph type="body" idx="1"/>
          </p:nvPr>
        </p:nvSpPr>
        <p:spPr/>
        <p:txBody>
          <a:bodyPr rtlCol="0">
            <a:normAutofit/>
          </a:bodyPr>
          <a:lstStyle/>
          <a:p>
            <a:pPr marL="44450" eaLnBrk="1" fontAlgn="auto" hangingPunct="1">
              <a:spcAft>
                <a:spcPts val="0"/>
              </a:spcAft>
              <a:buFont typeface="Arial" panose="020B0604020202020204" pitchFamily="34" charset="0"/>
              <a:buNone/>
              <a:defRPr/>
            </a:pPr>
            <a:r>
              <a:rPr lang="en-US"/>
              <a:t>WanderPlan</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dirty="0"/>
              <a:t>Work Breakdown Structure</a:t>
            </a:r>
            <a:br>
              <a:rPr lang="en-US" dirty="0"/>
            </a:br>
            <a:r>
              <a:rPr lang="en-US" sz="1400" dirty="0"/>
              <a:t>(List of all Deliverables / Strikethrough Completed Deliverables)</a:t>
            </a:r>
            <a:endParaRPr lang="en-US" dirty="0"/>
          </a:p>
        </p:txBody>
      </p:sp>
      <p:sp>
        <p:nvSpPr>
          <p:cNvPr id="8195" name="Content Placeholder 2"/>
          <p:cNvSpPr>
            <a:spLocks noGrp="1"/>
          </p:cNvSpPr>
          <p:nvPr>
            <p:ph sz="half" idx="1"/>
          </p:nvPr>
        </p:nvSpPr>
        <p:spPr>
          <a:xfrm>
            <a:off x="304800" y="1600200"/>
            <a:ext cx="4485005" cy="4526280"/>
          </a:xfrm>
        </p:spPr>
        <p:txBody>
          <a:bodyPr/>
          <a:lstStyle/>
          <a:p>
            <a:pPr lvl="1" eaLnBrk="1" hangingPunct="1">
              <a:buFont typeface="Arial" panose="020B0604020202020204" pitchFamily="34" charset="0"/>
              <a:buChar char="•"/>
            </a:pPr>
            <a:r>
              <a:rPr lang="en-US" dirty="0"/>
              <a:t>Reports/Documentation</a:t>
            </a:r>
            <a:endParaRPr lang="en-US" sz="2000" strike="sngStrike" dirty="0"/>
          </a:p>
          <a:p>
            <a:pPr lvl="1" eaLnBrk="1" hangingPunct="1"/>
            <a:r>
              <a:rPr lang="en-US" sz="1800" strike="sngStrike" dirty="0">
                <a:sym typeface="+mn-ea"/>
              </a:rPr>
              <a:t>Make Use Cases, Fully Dressed Use Cases</a:t>
            </a:r>
            <a:endParaRPr lang="en-US" sz="1800" strike="sngStrike" dirty="0"/>
          </a:p>
          <a:p>
            <a:pPr lvl="1" eaLnBrk="1" hangingPunct="1"/>
            <a:r>
              <a:rPr lang="en-US" sz="1800" strike="sngStrike" dirty="0">
                <a:sym typeface="+mn-ea"/>
              </a:rPr>
              <a:t>Make Architecture, Deployment Diagram</a:t>
            </a:r>
            <a:endParaRPr lang="en-US" sz="1800" strike="sngStrike" dirty="0"/>
          </a:p>
          <a:p>
            <a:pPr lvl="1" eaLnBrk="1" hangingPunct="1"/>
            <a:r>
              <a:rPr lang="en-US" sz="1800" strike="sngStrike" dirty="0">
                <a:sym typeface="+mn-ea"/>
              </a:rPr>
              <a:t> Activity Diagram.</a:t>
            </a:r>
            <a:r>
              <a:rPr lang="en-US" sz="2000" strike="sngStrike" dirty="0">
                <a:sym typeface="+mn-ea"/>
              </a:rPr>
              <a:t> </a:t>
            </a:r>
            <a:endParaRPr lang="en-US" sz="2000" strike="sngStrike" dirty="0"/>
          </a:p>
          <a:p>
            <a:pPr lvl="1" eaLnBrk="1" hangingPunct="1"/>
            <a:endParaRPr lang="en-US" sz="2000" dirty="0"/>
          </a:p>
          <a:p>
            <a:pPr lvl="1" eaLnBrk="1" hangingPunct="1">
              <a:buFont typeface="Arial" panose="020B0604020202020204" pitchFamily="34" charset="0"/>
              <a:buChar char="•"/>
            </a:pPr>
            <a:r>
              <a:rPr lang="en-US" sz="2400" dirty="0"/>
              <a:t>Development Environment</a:t>
            </a:r>
            <a:endParaRPr lang="en-US" sz="2400" dirty="0"/>
          </a:p>
          <a:p>
            <a:pPr lvl="1" eaLnBrk="1" hangingPunct="1"/>
            <a:r>
              <a:rPr lang="en-US" sz="1800" strike="sngStrike" dirty="0">
                <a:sym typeface="+mn-ea"/>
              </a:rPr>
              <a:t> React Native, React.js, Node.js.</a:t>
            </a:r>
            <a:endParaRPr lang="en-US" sz="1800" dirty="0"/>
          </a:p>
          <a:p>
            <a:pPr lvl="1" eaLnBrk="1" hangingPunct="1"/>
            <a:r>
              <a:rPr lang="en-US" sz="1800" strike="sngStrike" dirty="0">
                <a:sym typeface="+mn-ea"/>
              </a:rPr>
              <a:t> APIs.</a:t>
            </a:r>
            <a:endParaRPr lang="en-US" sz="1800" strike="sngStrike" dirty="0">
              <a:sym typeface="+mn-ea"/>
            </a:endParaRPr>
          </a:p>
          <a:p>
            <a:pPr lvl="1" eaLnBrk="1" hangingPunct="1"/>
            <a:r>
              <a:rPr lang="en-US" sz="1800" strike="sngStrike" dirty="0">
                <a:sym typeface="+mn-ea"/>
              </a:rPr>
              <a:t> GitHub.</a:t>
            </a:r>
            <a:endParaRPr lang="en-US" sz="1800" dirty="0"/>
          </a:p>
        </p:txBody>
      </p:sp>
      <p:sp>
        <p:nvSpPr>
          <p:cNvPr id="2" name="Content Placeholder 1"/>
          <p:cNvSpPr>
            <a:spLocks noGrp="1"/>
          </p:cNvSpPr>
          <p:nvPr>
            <p:ph sz="half" idx="2"/>
          </p:nvPr>
        </p:nvSpPr>
        <p:spPr/>
        <p:txBody>
          <a:bodyPr/>
          <a:lstStyle/>
          <a:p>
            <a:pPr eaLnBrk="1" hangingPunct="1"/>
            <a:r>
              <a:rPr lang="en-US" sz="2400" dirty="0"/>
              <a:t>Frontend Development</a:t>
            </a:r>
            <a:endParaRPr lang="en-US" sz="2400" dirty="0"/>
          </a:p>
          <a:p>
            <a:pPr lvl="1" eaLnBrk="1" hangingPunct="1"/>
            <a:r>
              <a:rPr lang="en-US" sz="1800" strike="sngStrike" dirty="0">
                <a:sym typeface="+mn-ea"/>
              </a:rPr>
              <a:t>Mobile App Homepage, Trip Planner Page, Map Navigation Page, Reviews Page, Profile Page, Settings page.</a:t>
            </a:r>
            <a:endParaRPr lang="en-US" sz="1800" strike="sngStrike" dirty="0">
              <a:sym typeface="+mn-ea"/>
            </a:endParaRPr>
          </a:p>
          <a:p>
            <a:pPr lvl="1" eaLnBrk="1" hangingPunct="1"/>
            <a:r>
              <a:rPr lang="en-US" sz="1800" strike="sngStrike" dirty="0">
                <a:sym typeface="+mn-ea"/>
              </a:rPr>
              <a:t>Admin Panel Dashboard, Users page, Business Owners page, Reviews page, Analytics page, Gamification page, Reports page,Settings page.</a:t>
            </a:r>
            <a:endParaRPr lang="en-US" sz="1800" strike="sngStrike" dirty="0">
              <a:sym typeface="+mn-ea"/>
            </a:endParaRPr>
          </a:p>
          <a:p>
            <a:pPr lvl="1" eaLnBrk="1" hangingPunct="1"/>
            <a:r>
              <a:rPr lang="en-US" sz="1800" strike="sngStrike" dirty="0">
                <a:sym typeface="+mn-ea"/>
              </a:rPr>
              <a:t>Business Owner Panel Dashboard,Profile page, Ad Deals page, Review page, POS Integration, Settings page.</a:t>
            </a:r>
            <a:endParaRPr lang="en-US" sz="1800" strike="sngStrike" dirty="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dirty="0"/>
              <a:t>Work Breakdown Structure</a:t>
            </a:r>
            <a:br>
              <a:rPr lang="en-US" dirty="0"/>
            </a:br>
            <a:r>
              <a:rPr lang="en-US" sz="1400" dirty="0"/>
              <a:t>(List of all Deliverables / Strikethrough Completed Deliverables)</a:t>
            </a:r>
            <a:endParaRPr lang="en-US" dirty="0"/>
          </a:p>
        </p:txBody>
      </p:sp>
      <p:sp>
        <p:nvSpPr>
          <p:cNvPr id="8195" name="Content Placeholder 2"/>
          <p:cNvSpPr>
            <a:spLocks noGrp="1"/>
          </p:cNvSpPr>
          <p:nvPr>
            <p:ph sz="half" idx="1"/>
          </p:nvPr>
        </p:nvSpPr>
        <p:spPr>
          <a:xfrm>
            <a:off x="304800" y="1600200"/>
            <a:ext cx="4485005" cy="2776855"/>
          </a:xfrm>
        </p:spPr>
        <p:txBody>
          <a:bodyPr/>
          <a:lstStyle/>
          <a:p>
            <a:pPr lvl="1" eaLnBrk="1" hangingPunct="1">
              <a:buFont typeface="Arial" panose="020B0604020202020204" pitchFamily="34" charset="0"/>
              <a:buChar char="•"/>
            </a:pPr>
            <a:r>
              <a:rPr lang="en-US" dirty="0"/>
              <a:t>Backend Development</a:t>
            </a:r>
            <a:endParaRPr lang="en-US" dirty="0"/>
          </a:p>
          <a:p>
            <a:pPr lvl="1" eaLnBrk="1" hangingPunct="1">
              <a:buFont typeface="Arial" panose="020B0604020202020204" pitchFamily="34" charset="0"/>
              <a:buChar char="•"/>
            </a:pPr>
            <a:r>
              <a:rPr lang="en-US" sz="1800" strike="sngStrike" dirty="0"/>
              <a:t>Reviews, otpRouter, sendVerification api, Login, MobileApp Auth, BusinessAuth, AdminAuth, Business Approval.</a:t>
            </a:r>
            <a:endParaRPr lang="en-US" sz="2000" strike="sngStrike" dirty="0"/>
          </a:p>
          <a:p>
            <a:pPr lvl="1" eaLnBrk="1" hangingPunct="1"/>
            <a:r>
              <a:rPr lang="en-US" sz="1800" dirty="0"/>
              <a:t>Profile management, Integration of Budget Management,map apis,</a:t>
            </a:r>
            <a:endParaRPr lang="en-US" sz="1800" dirty="0"/>
          </a:p>
          <a:p>
            <a:pPr lvl="1" eaLnBrk="1" hangingPunct="1"/>
            <a:r>
              <a:rPr lang="en-US" sz="1800" dirty="0"/>
              <a:t>Bussiness panel, Admin panel. </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Challenges</a:t>
            </a:r>
            <a:endParaRPr lang="en-US" dirty="0"/>
          </a:p>
        </p:txBody>
      </p:sp>
      <p:sp>
        <p:nvSpPr>
          <p:cNvPr id="2" name="Content Placeholder 2"/>
          <p:cNvSpPr>
            <a:spLocks noGrp="1"/>
          </p:cNvSpPr>
          <p:nvPr/>
        </p:nvSpPr>
        <p:spPr>
          <a:xfrm>
            <a:off x="609600" y="1295400"/>
            <a:ext cx="8229600" cy="4525963"/>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mj-lt"/>
              <a:buAutoNum type="arabicPeriod"/>
            </a:pPr>
            <a:r>
              <a:rPr lang="en-US" sz="2400" b="1" dirty="0"/>
              <a:t>Time Management</a:t>
            </a:r>
            <a:endParaRPr lang="en-US" sz="2400" b="1" dirty="0"/>
          </a:p>
          <a:p>
            <a:r>
              <a:rPr lang="en-US" sz="2000" dirty="0"/>
              <a:t>Handling multiple tasks while staying on track with strict deadlines.</a:t>
            </a:r>
            <a:endParaRPr lang="en-US" sz="2000" dirty="0"/>
          </a:p>
          <a:p>
            <a:r>
              <a:rPr lang="en-US" sz="2000" dirty="0"/>
              <a:t>Organizing and aligning team efforts to ensure milestones are achieved on time.</a:t>
            </a:r>
            <a:endParaRPr lang="en-US" sz="1800" dirty="0"/>
          </a:p>
          <a:p>
            <a:pPr>
              <a:buFont typeface="+mj-lt"/>
              <a:buAutoNum type="arabicPeriod" startAt="2"/>
            </a:pPr>
            <a:r>
              <a:rPr lang="en-US" sz="2400" b="1" dirty="0"/>
              <a:t>Version Control (GitHub &amp; GitHub Desktop)</a:t>
            </a:r>
            <a:endParaRPr lang="en-US" sz="2400" b="1" dirty="0"/>
          </a:p>
          <a:p>
            <a:r>
              <a:rPr lang="en-US" sz="2000" dirty="0"/>
              <a:t>Keeping code uniform and stable across different branches.</a:t>
            </a:r>
            <a:endParaRPr lang="en-US" sz="2000" dirty="0"/>
          </a:p>
          <a:p>
            <a:r>
              <a:rPr lang="en-US" sz="2000" dirty="0"/>
              <a:t>Dealing with regular merges while resolving conflicts efficiently.</a:t>
            </a:r>
            <a:endParaRPr lang="en-US" sz="2000" dirty="0"/>
          </a:p>
          <a:p>
            <a:r>
              <a:rPr lang="en-US" sz="2000" dirty="0"/>
              <a:t>Managing the fast-paced process of making sure integration runs smoothly on every team member’s system.</a:t>
            </a:r>
            <a:endParaRPr lang="en-US" sz="2000" dirty="0"/>
          </a:p>
          <a:p>
            <a:pPr marL="0" indent="0">
              <a:buNone/>
            </a:pPr>
            <a:r>
              <a:rPr lang="en-US" sz="2400" b="1" dirty="0"/>
              <a:t>3. </a:t>
            </a:r>
            <a:r>
              <a:rPr lang="en-US" altLang="en-US" sz="2400" b="1" dirty="0"/>
              <a:t>Resource Limitations &amp; API Optimization</a:t>
            </a:r>
            <a:endParaRPr lang="en-US" altLang="en-US" sz="2000" dirty="0"/>
          </a:p>
          <a:p>
            <a:r>
              <a:rPr lang="en-US" altLang="en-US" sz="2000" dirty="0"/>
              <a:t> Accessing premium mapping services (like Google Distance Matrix) was restricted due to high costs.</a:t>
            </a:r>
            <a:endParaRPr lang="en-US" altLang="en-US" sz="2000" dirty="0"/>
          </a:p>
          <a:p>
            <a:endParaRPr lang="en-US" sz="2000" dirty="0"/>
          </a:p>
          <a:p>
            <a:pPr eaLnBrk="1" hangingPunct="1"/>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rmAutofit/>
          </a:bodyPr>
          <a:lstStyle/>
          <a:p>
            <a:pPr eaLnBrk="1" fontAlgn="auto" hangingPunct="1">
              <a:spcAft>
                <a:spcPts val="0"/>
              </a:spcAft>
              <a:defRPr/>
            </a:pPr>
            <a:r>
              <a:rPr lang="en-US" dirty="0"/>
              <a:t>Prototype &amp; Report</a:t>
            </a:r>
            <a:endParaRPr lang="en-US" dirty="0"/>
          </a:p>
        </p:txBody>
      </p:sp>
      <p:sp>
        <p:nvSpPr>
          <p:cNvPr id="12291" name="Text Placeholder 4"/>
          <p:cNvSpPr>
            <a:spLocks noGrp="1"/>
          </p:cNvSpPr>
          <p:nvPr>
            <p:ph type="body" idx="1"/>
          </p:nvPr>
        </p:nvSpPr>
        <p:spPr/>
        <p:txBody>
          <a:bodyPr rtlCol="0">
            <a:normAutofit/>
          </a:bodyPr>
          <a:lstStyle/>
          <a:p>
            <a:pPr marL="44450" eaLnBrk="1" fontAlgn="auto" hangingPunct="1">
              <a:spcAft>
                <a:spcPts val="0"/>
              </a:spcAft>
              <a:buFont typeface="Arial" panose="020B0604020202020204" pitchFamily="34" charset="0"/>
              <a:buNone/>
              <a:defRPr/>
            </a:pPr>
            <a:r>
              <a:rPr lang="en-US"/>
              <a:t>WanderPlan</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75883"/>
            <a:ext cx="8229600" cy="1143000"/>
          </a:xfrm>
        </p:spPr>
        <p:txBody>
          <a:bodyPr/>
          <a:lstStyle/>
          <a:p>
            <a:pPr eaLnBrk="1" hangingPunct="1"/>
            <a:r>
              <a:rPr lang="en-US" dirty="0"/>
              <a:t>Prototype</a:t>
            </a:r>
            <a:endParaRPr lang="en-US" dirty="0"/>
          </a:p>
        </p:txBody>
      </p:sp>
      <p:pic>
        <p:nvPicPr>
          <p:cNvPr id="2" name="Picture 1" descr="WhatsApp Image 2026-01-04 at 9.56.01 PM (1)"/>
          <p:cNvPicPr>
            <a:picLocks noChangeAspect="1"/>
          </p:cNvPicPr>
          <p:nvPr/>
        </p:nvPicPr>
        <p:blipFill>
          <a:blip r:embed="rId1"/>
          <a:stretch>
            <a:fillRect/>
          </a:stretch>
        </p:blipFill>
        <p:spPr>
          <a:xfrm>
            <a:off x="3810000" y="1676400"/>
            <a:ext cx="1833880" cy="4077970"/>
          </a:xfrm>
          <a:prstGeom prst="rect">
            <a:avLst/>
          </a:prstGeom>
          <a:ln>
            <a:solidFill>
              <a:schemeClr val="tx1"/>
            </a:solidFill>
          </a:ln>
        </p:spPr>
      </p:pic>
      <p:pic>
        <p:nvPicPr>
          <p:cNvPr id="3" name="Picture 2" descr="WhatsApp Image 2026-01-04 at 9.56.00 PM"/>
          <p:cNvPicPr>
            <a:picLocks noChangeAspect="1"/>
          </p:cNvPicPr>
          <p:nvPr/>
        </p:nvPicPr>
        <p:blipFill>
          <a:blip r:embed="rId2"/>
          <a:stretch>
            <a:fillRect/>
          </a:stretch>
        </p:blipFill>
        <p:spPr>
          <a:xfrm>
            <a:off x="1082675" y="1676400"/>
            <a:ext cx="1858645" cy="4132580"/>
          </a:xfrm>
          <a:prstGeom prst="rect">
            <a:avLst/>
          </a:prstGeom>
          <a:ln>
            <a:solidFill>
              <a:schemeClr val="tx1"/>
            </a:solidFill>
          </a:ln>
        </p:spPr>
      </p:pic>
      <p:pic>
        <p:nvPicPr>
          <p:cNvPr id="4" name="Picture 3" descr="WhatsApp Image 2026-01-04 at 9.56.03 PM"/>
          <p:cNvPicPr>
            <a:picLocks noChangeAspect="1"/>
          </p:cNvPicPr>
          <p:nvPr/>
        </p:nvPicPr>
        <p:blipFill>
          <a:blip r:embed="rId3"/>
          <a:stretch>
            <a:fillRect/>
          </a:stretch>
        </p:blipFill>
        <p:spPr>
          <a:xfrm>
            <a:off x="6400800" y="1703705"/>
            <a:ext cx="1821815" cy="4050665"/>
          </a:xfrm>
          <a:prstGeom prst="rect">
            <a:avLst/>
          </a:prstGeom>
          <a:ln>
            <a:solidFill>
              <a:schemeClr val="tx1"/>
            </a:solidFill>
          </a:ln>
        </p:spPr>
      </p:pic>
      <p:sp>
        <p:nvSpPr>
          <p:cNvPr id="5" name="Title 1"/>
          <p:cNvSpPr>
            <a:spLocks noGrp="1"/>
          </p:cNvSpPr>
          <p:nvPr/>
        </p:nvSpPr>
        <p:spPr>
          <a:xfrm>
            <a:off x="457200" y="990600"/>
            <a:ext cx="2766695" cy="43307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algn="l" eaLnBrk="1" hangingPunct="1"/>
            <a:r>
              <a:rPr lang="en-US" sz="2400" b="1" dirty="0"/>
              <a:t>Mobile Application:</a:t>
            </a:r>
            <a:endParaRPr lang="en-US" sz="24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152083"/>
            <a:ext cx="8229600" cy="1143000"/>
          </a:xfrm>
        </p:spPr>
        <p:txBody>
          <a:bodyPr/>
          <a:lstStyle/>
          <a:p>
            <a:pPr eaLnBrk="1" hangingPunct="1"/>
            <a:r>
              <a:rPr lang="en-US" dirty="0"/>
              <a:t>Prototype</a:t>
            </a:r>
            <a:endParaRPr lang="en-US" dirty="0"/>
          </a:p>
        </p:txBody>
      </p:sp>
      <p:pic>
        <p:nvPicPr>
          <p:cNvPr id="5" name="Picture 4" descr="WhatsApp Image 2026-01-04 at 10.37.05 PM"/>
          <p:cNvPicPr>
            <a:picLocks noChangeAspect="1"/>
          </p:cNvPicPr>
          <p:nvPr/>
        </p:nvPicPr>
        <p:blipFill>
          <a:blip r:embed="rId1"/>
          <a:stretch>
            <a:fillRect/>
          </a:stretch>
        </p:blipFill>
        <p:spPr>
          <a:xfrm>
            <a:off x="1143000" y="1828800"/>
            <a:ext cx="7098665" cy="3460750"/>
          </a:xfrm>
          <a:prstGeom prst="rect">
            <a:avLst/>
          </a:prstGeom>
          <a:ln>
            <a:solidFill>
              <a:schemeClr val="bg1"/>
            </a:solidFill>
          </a:ln>
        </p:spPr>
      </p:pic>
      <p:sp>
        <p:nvSpPr>
          <p:cNvPr id="6" name="Title 1"/>
          <p:cNvSpPr>
            <a:spLocks noGrp="1"/>
          </p:cNvSpPr>
          <p:nvPr/>
        </p:nvSpPr>
        <p:spPr>
          <a:xfrm>
            <a:off x="457200" y="1219200"/>
            <a:ext cx="2907030" cy="43307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algn="l" eaLnBrk="1" hangingPunct="1"/>
            <a:r>
              <a:rPr lang="en-US" sz="2400" b="1" dirty="0"/>
              <a:t>Business Web Panel:</a:t>
            </a:r>
            <a:endParaRPr lang="en-US" sz="24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Prototype</a:t>
            </a:r>
            <a:endParaRPr lang="en-US" dirty="0"/>
          </a:p>
        </p:txBody>
      </p:sp>
      <p:pic>
        <p:nvPicPr>
          <p:cNvPr id="2" name="Picture 1" descr="WhatsApp Image 2026-01-04 at 10.39.38 PM"/>
          <p:cNvPicPr>
            <a:picLocks noChangeAspect="1"/>
          </p:cNvPicPr>
          <p:nvPr/>
        </p:nvPicPr>
        <p:blipFill>
          <a:blip r:embed="rId1"/>
          <a:stretch>
            <a:fillRect/>
          </a:stretch>
        </p:blipFill>
        <p:spPr>
          <a:xfrm>
            <a:off x="914400" y="1828800"/>
            <a:ext cx="7188200" cy="3455035"/>
          </a:xfrm>
          <a:prstGeom prst="rect">
            <a:avLst/>
          </a:prstGeom>
        </p:spPr>
      </p:pic>
      <p:sp>
        <p:nvSpPr>
          <p:cNvPr id="6" name="Title 1"/>
          <p:cNvSpPr>
            <a:spLocks noGrp="1"/>
          </p:cNvSpPr>
          <p:nvPr/>
        </p:nvSpPr>
        <p:spPr>
          <a:xfrm>
            <a:off x="457200" y="1219200"/>
            <a:ext cx="2907030" cy="43307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algn="l" eaLnBrk="1" hangingPunct="1"/>
            <a:r>
              <a:rPr lang="en-US" sz="2400" b="1" dirty="0"/>
              <a:t>Admin Web Panel:</a:t>
            </a:r>
            <a:endParaRPr lang="en-US" sz="24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Report</a:t>
            </a:r>
            <a:endParaRPr lang="en-US" dirty="0"/>
          </a:p>
        </p:txBody>
      </p:sp>
      <p:sp>
        <p:nvSpPr>
          <p:cNvPr id="10243" name="Content Placeholder 2"/>
          <p:cNvSpPr>
            <a:spLocks noGrp="1"/>
          </p:cNvSpPr>
          <p:nvPr>
            <p:ph idx="1"/>
          </p:nvPr>
        </p:nvSpPr>
        <p:spPr/>
        <p:txBody>
          <a:bodyPr/>
          <a:lstStyle/>
          <a:p>
            <a:pPr eaLnBrk="1" hangingPunct="1"/>
            <a:r>
              <a:rPr lang="en-US" sz="2400" dirty="0"/>
              <a:t>Chapter 1: Introduction (Completed).</a:t>
            </a:r>
            <a:endParaRPr lang="en-US" sz="2400" dirty="0"/>
          </a:p>
          <a:p>
            <a:pPr eaLnBrk="1" hangingPunct="1"/>
            <a:r>
              <a:rPr lang="en-US" sz="2400" dirty="0"/>
              <a:t>Chapter 2: Literature / Market Survey (Completed).</a:t>
            </a:r>
            <a:endParaRPr lang="en-US" sz="2400" dirty="0"/>
          </a:p>
          <a:p>
            <a:pPr eaLnBrk="1" hangingPunct="1"/>
            <a:r>
              <a:rPr lang="en-US" sz="2400" dirty="0"/>
              <a:t>Chapter 3: Requirement Analysis (Completed).</a:t>
            </a:r>
            <a:endParaRPr lang="en-US" sz="2400" dirty="0"/>
          </a:p>
          <a:p>
            <a:pPr eaLnBrk="1" hangingPunct="1"/>
            <a:r>
              <a:rPr lang="en-US" sz="2400" dirty="0"/>
              <a:t>Chapter 4: System Design (Completed).</a:t>
            </a:r>
            <a:endParaRPr lang="en-US" sz="2400" dirty="0"/>
          </a:p>
          <a:p>
            <a:pPr eaLnBrk="1" hangingPunct="1"/>
            <a:r>
              <a:rPr lang="en-US" sz="2400" dirty="0"/>
              <a:t>Chapter 5: Implementation (Completed).</a:t>
            </a:r>
            <a:endParaRPr lang="en-US" sz="2400" dirty="0"/>
          </a:p>
          <a:p>
            <a:pPr eaLnBrk="1" hangingPunct="1"/>
            <a:r>
              <a:rPr lang="en-US" sz="2400" dirty="0"/>
              <a:t>Chapter 6: Testing &amp; Evaluations (Planned for Part-II).</a:t>
            </a:r>
            <a:endParaRPr lang="en-US" sz="2400" dirty="0"/>
          </a:p>
          <a:p>
            <a:pPr eaLnBrk="1" hangingPunct="1"/>
            <a:r>
              <a:rPr lang="en-US" sz="2400" dirty="0"/>
              <a:t>Chapter 7: Conclusion &amp; Outlook </a:t>
            </a:r>
            <a:r>
              <a:rPr lang="en-US" sz="2400" dirty="0">
                <a:sym typeface="+mn-ea"/>
              </a:rPr>
              <a:t>(Planned for Part-II).</a:t>
            </a:r>
            <a:endParaRPr lang="en-US" sz="2400" dirty="0"/>
          </a:p>
        </p:txBody>
      </p:sp>
    </p:spTree>
  </p:cSld>
  <p:clrMapOvr>
    <a:masterClrMapping/>
  </p:clrMapOvr>
</p:sld>
</file>

<file path=ppt/tags/tag1.xml><?xml version="1.0" encoding="utf-8"?>
<p:tagLst xmlns:p="http://schemas.openxmlformats.org/presentationml/2006/main">
  <p:tag name="TABLE_ENDDRAG_ORIGIN_RECT" val="577*232"/>
  <p:tag name="TABLE_ENDDRAG_RECT" val="66*144*577*2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10608</Words>
  <Application>WPS Presentation</Application>
  <PresentationFormat>On-screen Show (4:3)</PresentationFormat>
  <Paragraphs>431</Paragraphs>
  <Slides>35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Arial</vt:lpstr>
      <vt:lpstr>SimSun</vt:lpstr>
      <vt:lpstr>Wingdings</vt:lpstr>
      <vt:lpstr>Calibri</vt:lpstr>
      <vt:lpstr>Microsoft YaHei</vt:lpstr>
      <vt:lpstr>Arial Unicode MS</vt:lpstr>
      <vt:lpstr>Times New Roman</vt:lpstr>
      <vt:lpstr>Calibri</vt:lpstr>
      <vt:lpstr>Wingdings</vt:lpstr>
      <vt:lpstr>Sitka Small</vt:lpstr>
      <vt:lpstr>Times New Roman</vt:lpstr>
      <vt:lpstr>Sitka Small Semibold</vt:lpstr>
      <vt:lpstr>Sitka Subheading</vt:lpstr>
      <vt:lpstr>Calisto MT</vt:lpstr>
      <vt:lpstr>Office Theme</vt:lpstr>
      <vt:lpstr>Final Year Project</vt:lpstr>
      <vt:lpstr>Project Team</vt:lpstr>
      <vt:lpstr>Table of Content</vt:lpstr>
      <vt:lpstr>Opportunity &amp; Stakeholders</vt:lpstr>
      <vt:lpstr>Opportunity &amp; Stakeholders</vt:lpstr>
      <vt:lpstr>Opportunity </vt:lpstr>
      <vt:lpstr>Opportunity </vt:lpstr>
      <vt:lpstr>Opportunity </vt:lpstr>
      <vt:lpstr>Opportunity </vt:lpstr>
      <vt:lpstr>Solution</vt:lpstr>
      <vt:lpstr>PROGRESS REPORT Summary</vt:lpstr>
      <vt:lpstr>Requirements</vt:lpstr>
      <vt:lpstr>Requirements</vt:lpstr>
      <vt:lpstr>Requirements</vt:lpstr>
      <vt:lpstr>Requirements</vt:lpstr>
      <vt:lpstr>Requirements</vt:lpstr>
      <vt:lpstr>Design</vt:lpstr>
      <vt:lpstr>Implementation</vt:lpstr>
      <vt:lpstr>Testing</vt:lpstr>
      <vt:lpstr>Testing</vt:lpstr>
      <vt:lpstr>Testing</vt:lpstr>
      <vt:lpstr>Testing</vt:lpstr>
      <vt:lpstr>Endeavour</vt:lpstr>
      <vt:lpstr>Endeavour</vt:lpstr>
      <vt:lpstr>Endeavour</vt:lpstr>
      <vt:lpstr>Endeavour</vt:lpstr>
      <vt:lpstr>NEXT STEPS</vt:lpstr>
      <vt:lpstr>Work Breakdown Structure (List of all Deliverables / Strikethrough Completed Deliverables)</vt:lpstr>
      <vt:lpstr>Work Breakdown Structure (List of all Deliverables / Strikethrough Completed Deliverables)</vt:lpstr>
      <vt:lpstr>Challenges</vt:lpstr>
      <vt:lpstr>Prototype &amp; Report</vt:lpstr>
      <vt:lpstr>Prototype</vt:lpstr>
      <vt:lpstr>Prototype</vt:lpstr>
      <vt:lpstr>Prototype</vt:lpstr>
      <vt:lpstr>Report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Khan</dc:creator>
  <cp:lastModifiedBy>Abdullah Ahtsham</cp:lastModifiedBy>
  <cp:revision>107</cp:revision>
  <dcterms:created xsi:type="dcterms:W3CDTF">2013-01-22T07:04:00Z</dcterms:created>
  <dcterms:modified xsi:type="dcterms:W3CDTF">2026-01-04T18:15:29Z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31BCBE79CB6C4F83A3032859BAE4304C_13</vt:lpwstr>
  </property>
  <property fmtid="{D5CDD505-2E9C-101B-9397-08002B2CF9AE}" pid="3" name="KSOProductBuildVer">
    <vt:lpwstr>1033-12.2.0.23196</vt:lpwstr>
  </property>
</Properties>
</file>